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sldIdLst>
    <p:sldId id="256" r:id="rId3"/>
    <p:sldId id="257" r:id="rId4"/>
    <p:sldId id="258" r:id="rId5"/>
    <p:sldId id="268" r:id="rId6"/>
    <p:sldId id="259" r:id="rId7"/>
    <p:sldId id="260" r:id="rId8"/>
    <p:sldId id="261" r:id="rId9"/>
    <p:sldId id="262" r:id="rId10"/>
    <p:sldId id="265" r:id="rId11"/>
    <p:sldId id="270" r:id="rId12"/>
    <p:sldId id="263" r:id="rId13"/>
    <p:sldId id="264" r:id="rId14"/>
    <p:sldId id="269" r:id="rId15"/>
    <p:sldId id="266" r:id="rId16"/>
    <p:sldId id="267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2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" name="Google Shape;10;p2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1713240"/>
            <a:ext cx="7600680" cy="28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4;p11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" name="Google Shape;55;p11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288080"/>
            <a:ext cx="6575760" cy="152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0;p13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" name="Google Shape;61;p13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1879200"/>
            <a:ext cx="2500200" cy="138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3206880" y="49752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6061320" y="49752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3206880" y="199620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6061320" y="199620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3206880" y="349488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6061320" y="349488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76;p14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" name="Google Shape;77;p14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2207880"/>
            <a:ext cx="247176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80;p15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Google Shape;81;p15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6"/>
          <p:cNvPicPr/>
          <p:nvPr/>
        </p:nvPicPr>
        <p:blipFill>
          <a:blip r:embed="rId2"/>
          <a:srcRect l="12361" t="6762" r="823" b="642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" name="Google Shape;85;p16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8;p17"/>
          <p:cNvPicPr/>
          <p:nvPr/>
        </p:nvPicPr>
        <p:blipFill>
          <a:blip r:embed="rId2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6" name="Google Shape;89;p17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8600" y="264960"/>
            <a:ext cx="4303800" cy="205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3;p18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Google Shape;94;p18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8600" y="1205280"/>
            <a:ext cx="4322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473080" y="228600"/>
            <a:ext cx="3441960" cy="466308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9;p19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4" name="Google Shape;100;p19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8600" y="1879200"/>
            <a:ext cx="2405160" cy="138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109;p20"/>
          <p:cNvPicPr/>
          <p:nvPr/>
        </p:nvPicPr>
        <p:blipFill>
          <a:blip r:embed="rId2"/>
          <a:srcRect l="14225" t="13766" r="731" b="1191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Google Shape;110;p20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4;p3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" name="Google Shape;15;p3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8600" y="1196280"/>
            <a:ext cx="6984720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228600" y="3396960"/>
            <a:ext cx="123552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121;p21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5" name="Google Shape;122;p21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618880" y="1866960"/>
            <a:ext cx="329616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28600" y="3162240"/>
            <a:ext cx="475236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5618880" y="544680"/>
            <a:ext cx="329616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30;p22"/>
          <p:cNvPicPr/>
          <p:nvPr/>
        </p:nvPicPr>
        <p:blipFill>
          <a:blip r:embed="rId2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0" name="Google Shape;131;p22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8600" y="2672280"/>
            <a:ext cx="534384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Google Shape;134;p22"/>
          <p:cNvSpPr/>
          <p:nvPr/>
        </p:nvSpPr>
        <p:spPr>
          <a:xfrm>
            <a:off x="6395760" y="392400"/>
            <a:ext cx="25192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36;p23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138;p24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20;p4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6" name="Google Shape;21;p4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25;p5"/>
          <p:cNvPicPr/>
          <p:nvPr/>
        </p:nvPicPr>
        <p:blipFill>
          <a:blip r:embed="rId2"/>
          <a:srcRect l="10261" t="8058" r="-2888" b="-68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0" name="Google Shape;26;p5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3;p6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36;p7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5" name="Google Shape;37;p7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351000"/>
            <a:ext cx="4936320" cy="142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473080" y="228600"/>
            <a:ext cx="3441960" cy="466308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42;p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9" name="Google Shape;43;p8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46;p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2" name="Google Shape;47;p9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44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47;p28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28600" y="1714680"/>
            <a:ext cx="7600680" cy="8570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4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Uber Analytics Overview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2409840" y="714240"/>
            <a:ext cx="6372000" cy="62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Uber 2024 Revenue and Rides Performance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Google Shape;157;p29"/>
          <p:cNvSpPr/>
          <p:nvPr/>
        </p:nvSpPr>
        <p:spPr>
          <a:xfrm>
            <a:off x="7867800" y="133200"/>
            <a:ext cx="1047240" cy="1846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dirty="0">
                <a:solidFill>
                  <a:schemeClr val="dk1"/>
                </a:solidFill>
                <a:latin typeface="Arial"/>
              </a:rPr>
              <a:t>10</a:t>
            </a:r>
            <a:r>
              <a:rPr lang="en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/07/2025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Google Shape;159;p29"/>
          <p:cNvSpPr/>
          <p:nvPr/>
        </p:nvSpPr>
        <p:spPr>
          <a:xfrm>
            <a:off x="228600" y="133200"/>
            <a:ext cx="1047240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Faraj Hafidh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28960" y="228600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Introduction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228960" y="893805"/>
            <a:ext cx="4779335" cy="16663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Data set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ini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mencakup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total 148.767K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pemesanan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di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berbagai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jenis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kendaraan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dan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memberikan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gambaran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lengkap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tentang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operasi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berbagi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tumpangan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termasuk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perjalanan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yang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berhasil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pembatalan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perilaku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pelanggan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, dan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metrik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keuangan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. End-to-end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analisis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dengan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bisnis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storytelling. Kita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akan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meng-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eksplor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mulai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dari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demand, cancel, rating driver dan customer, revenue, dan operation. Note: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Semua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chart di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jelaskan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ea typeface="Work Sans"/>
              </a:rPr>
              <a:t>dengan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ea typeface="Work Sans"/>
              </a:rPr>
              <a:t> Bahasa Indonesia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9" name="Google Shape;224;p32" title="scenes-people-work.jpg"/>
          <p:cNvSpPr/>
          <p:nvPr/>
        </p:nvSpPr>
        <p:spPr>
          <a:xfrm>
            <a:off x="6048375" y="228600"/>
            <a:ext cx="2866665" cy="46630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19050">
            <a:solidFill>
              <a:srgbClr val="FEA86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F6202B01-601B-41F7-976E-3BBD0FEAF702}"/>
              </a:ext>
            </a:extLst>
          </p:cNvPr>
          <p:cNvSpPr txBox="1">
            <a:spLocks/>
          </p:cNvSpPr>
          <p:nvPr/>
        </p:nvSpPr>
        <p:spPr>
          <a:xfrm>
            <a:off x="228960" y="2560140"/>
            <a:ext cx="5724165" cy="235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900" b="1" dirty="0"/>
              <a:t>Project Goals (Set Goals) :</a:t>
            </a:r>
          </a:p>
          <a:p>
            <a:pPr algn="just"/>
            <a:endParaRPr lang="en-US" sz="900" b="1" dirty="0"/>
          </a:p>
          <a:p>
            <a:pPr algn="just">
              <a:lnSpc>
                <a:spcPct val="120000"/>
              </a:lnSpc>
            </a:pPr>
            <a:r>
              <a:rPr lang="en-US" sz="1300" b="1" dirty="0"/>
              <a:t>1. </a:t>
            </a:r>
            <a:r>
              <a:rPr lang="en-US" sz="1300" b="1" dirty="0" err="1"/>
              <a:t>Menganalisis</a:t>
            </a:r>
            <a:r>
              <a:rPr lang="en-US" sz="1300" b="1" dirty="0"/>
              <a:t> </a:t>
            </a:r>
            <a:r>
              <a:rPr lang="en-US" sz="1300" b="1" dirty="0" err="1"/>
              <a:t>performa</a:t>
            </a:r>
            <a:r>
              <a:rPr lang="en-US" sz="1300" b="1" dirty="0"/>
              <a:t> </a:t>
            </a:r>
            <a:r>
              <a:rPr lang="en-US" sz="1300" b="1" dirty="0" err="1"/>
              <a:t>operasional</a:t>
            </a:r>
            <a:r>
              <a:rPr lang="en-US" sz="1300" b="1" dirty="0"/>
              <a:t> Uber </a:t>
            </a:r>
            <a:r>
              <a:rPr lang="en-US" sz="1300" b="1" dirty="0" err="1"/>
              <a:t>tahun</a:t>
            </a:r>
            <a:r>
              <a:rPr lang="en-US" sz="1300" b="1" dirty="0"/>
              <a:t> 2024</a:t>
            </a:r>
          </a:p>
          <a:p>
            <a:pPr algn="just">
              <a:lnSpc>
                <a:spcPct val="120000"/>
              </a:lnSpc>
            </a:pPr>
            <a:r>
              <a:rPr lang="en-US" sz="1300" dirty="0" err="1"/>
              <a:t>Meliputi</a:t>
            </a:r>
            <a:r>
              <a:rPr lang="en-US" sz="1300" dirty="0"/>
              <a:t> demand, </a:t>
            </a:r>
            <a:r>
              <a:rPr lang="en-US" sz="1300" dirty="0" err="1"/>
              <a:t>pembatalan</a:t>
            </a:r>
            <a:r>
              <a:rPr lang="en-US" sz="1300" dirty="0"/>
              <a:t>, incomplete rides, revenue, dan </a:t>
            </a:r>
            <a:r>
              <a:rPr lang="en-US" sz="1300" dirty="0" err="1"/>
              <a:t>tingkat</a:t>
            </a:r>
            <a:r>
              <a:rPr lang="en-US" sz="1300" dirty="0"/>
              <a:t> </a:t>
            </a:r>
            <a:r>
              <a:rPr lang="en-US" sz="1300" dirty="0" err="1"/>
              <a:t>keberhasilan</a:t>
            </a:r>
            <a:r>
              <a:rPr lang="en-US" sz="1300" dirty="0"/>
              <a:t> </a:t>
            </a:r>
            <a:r>
              <a:rPr lang="en-US" sz="1300" dirty="0" err="1"/>
              <a:t>perjalanan</a:t>
            </a:r>
            <a:r>
              <a:rPr lang="en-US" sz="1300" dirty="0"/>
              <a:t>.</a:t>
            </a:r>
          </a:p>
          <a:p>
            <a:pPr algn="just">
              <a:lnSpc>
                <a:spcPct val="120000"/>
              </a:lnSpc>
            </a:pPr>
            <a:endParaRPr lang="en-US" sz="1300" b="1" dirty="0"/>
          </a:p>
          <a:p>
            <a:pPr algn="just">
              <a:lnSpc>
                <a:spcPct val="120000"/>
              </a:lnSpc>
            </a:pPr>
            <a:r>
              <a:rPr lang="en-US" sz="1300" b="1" dirty="0"/>
              <a:t>2. </a:t>
            </a:r>
            <a:r>
              <a:rPr lang="en-US" sz="1300" b="1" dirty="0" err="1"/>
              <a:t>Mengidentifikasi</a:t>
            </a:r>
            <a:r>
              <a:rPr lang="en-US" sz="1300" b="1" dirty="0"/>
              <a:t> </a:t>
            </a:r>
            <a:r>
              <a:rPr lang="en-US" sz="1300" b="1" dirty="0" err="1"/>
              <a:t>faktor</a:t>
            </a:r>
            <a:r>
              <a:rPr lang="en-US" sz="1300" b="1" dirty="0"/>
              <a:t> </a:t>
            </a:r>
            <a:r>
              <a:rPr lang="en-US" sz="1300" b="1" dirty="0" err="1"/>
              <a:t>kritis</a:t>
            </a:r>
            <a:r>
              <a:rPr lang="en-US" sz="1300" b="1" dirty="0"/>
              <a:t> yang </a:t>
            </a:r>
            <a:r>
              <a:rPr lang="en-US" sz="1300" b="1" dirty="0" err="1"/>
              <a:t>memengaruhi</a:t>
            </a:r>
            <a:r>
              <a:rPr lang="en-US" sz="1300" b="1" dirty="0"/>
              <a:t> customer &amp; driver experience</a:t>
            </a:r>
          </a:p>
          <a:p>
            <a:pPr algn="just">
              <a:lnSpc>
                <a:spcPct val="120000"/>
              </a:lnSpc>
            </a:pPr>
            <a:r>
              <a:rPr lang="en-US" sz="1300" dirty="0" err="1"/>
              <a:t>Fokus</a:t>
            </a:r>
            <a:r>
              <a:rPr lang="en-US" sz="1300" dirty="0"/>
              <a:t> pada cancellation behavior, success rate </a:t>
            </a:r>
            <a:r>
              <a:rPr lang="en-US" sz="1300" dirty="0" err="1"/>
              <a:t>antar</a:t>
            </a:r>
            <a:r>
              <a:rPr lang="en-US" sz="1300" dirty="0"/>
              <a:t> </a:t>
            </a:r>
            <a:r>
              <a:rPr lang="en-US" sz="1300" dirty="0" err="1"/>
              <a:t>jenis</a:t>
            </a:r>
            <a:r>
              <a:rPr lang="en-US" sz="1300" dirty="0"/>
              <a:t> </a:t>
            </a:r>
            <a:r>
              <a:rPr lang="en-US" sz="1300" dirty="0" err="1"/>
              <a:t>kendaraan</a:t>
            </a:r>
            <a:r>
              <a:rPr lang="en-US" sz="1300" dirty="0"/>
              <a:t>, </a:t>
            </a:r>
            <a:r>
              <a:rPr lang="en-US" sz="1300" dirty="0" err="1"/>
              <a:t>serta</a:t>
            </a:r>
            <a:r>
              <a:rPr lang="en-US" sz="1300" dirty="0"/>
              <a:t> </a:t>
            </a:r>
            <a:r>
              <a:rPr lang="en-US" sz="1300" dirty="0" err="1"/>
              <a:t>distribusi</a:t>
            </a:r>
            <a:r>
              <a:rPr lang="en-US" sz="1300" dirty="0"/>
              <a:t> rating </a:t>
            </a:r>
            <a:r>
              <a:rPr lang="en-US" sz="1300" dirty="0" err="1"/>
              <a:t>pelanggan</a:t>
            </a:r>
            <a:r>
              <a:rPr lang="en-US" sz="1300" dirty="0"/>
              <a:t> dan </a:t>
            </a:r>
            <a:r>
              <a:rPr lang="en-US" sz="1300" dirty="0" err="1"/>
              <a:t>pengemudi</a:t>
            </a:r>
            <a:r>
              <a:rPr lang="en-US" sz="1300" dirty="0"/>
              <a:t>.</a:t>
            </a:r>
          </a:p>
          <a:p>
            <a:pPr algn="just">
              <a:lnSpc>
                <a:spcPct val="120000"/>
              </a:lnSpc>
            </a:pPr>
            <a:endParaRPr lang="en-US" sz="1300" b="1" dirty="0"/>
          </a:p>
          <a:p>
            <a:pPr algn="just">
              <a:lnSpc>
                <a:spcPct val="120000"/>
              </a:lnSpc>
            </a:pPr>
            <a:r>
              <a:rPr lang="en-US" sz="1300" b="1" dirty="0"/>
              <a:t>3. </a:t>
            </a:r>
            <a:r>
              <a:rPr lang="en-US" sz="1300" b="1" dirty="0" err="1"/>
              <a:t>Menyediakan</a:t>
            </a:r>
            <a:r>
              <a:rPr lang="en-US" sz="1300" b="1" dirty="0"/>
              <a:t> insight </a:t>
            </a:r>
            <a:r>
              <a:rPr lang="en-US" sz="1300" b="1" dirty="0" err="1"/>
              <a:t>untuk</a:t>
            </a:r>
            <a:r>
              <a:rPr lang="en-US" sz="1300" b="1" dirty="0"/>
              <a:t> strategi </a:t>
            </a:r>
            <a:r>
              <a:rPr lang="en-US" sz="1300" b="1" dirty="0" err="1"/>
              <a:t>bisnis</a:t>
            </a:r>
            <a:r>
              <a:rPr lang="en-US" sz="1300" b="1" dirty="0"/>
              <a:t> &amp; </a:t>
            </a:r>
            <a:r>
              <a:rPr lang="en-US" sz="1300" b="1" dirty="0" err="1"/>
              <a:t>retensi</a:t>
            </a:r>
            <a:r>
              <a:rPr lang="en-US" sz="1300" b="1" dirty="0"/>
              <a:t> </a:t>
            </a:r>
            <a:r>
              <a:rPr lang="en-US" sz="1300" b="1" dirty="0" err="1"/>
              <a:t>pelanggan</a:t>
            </a:r>
            <a:endParaRPr lang="en-US" sz="1300" b="1" dirty="0"/>
          </a:p>
          <a:p>
            <a:pPr algn="just">
              <a:lnSpc>
                <a:spcPct val="120000"/>
              </a:lnSpc>
            </a:pPr>
            <a:r>
              <a:rPr lang="en-US" sz="1300" dirty="0" err="1"/>
              <a:t>Termasuk</a:t>
            </a:r>
            <a:r>
              <a:rPr lang="en-US" sz="1300" dirty="0"/>
              <a:t> </a:t>
            </a:r>
            <a:r>
              <a:rPr lang="en-US" sz="1300" dirty="0" err="1"/>
              <a:t>segmentasi</a:t>
            </a:r>
            <a:r>
              <a:rPr lang="en-US" sz="1300" dirty="0"/>
              <a:t> customer (high, mid, low value), cohort analysis, dan </a:t>
            </a:r>
            <a:r>
              <a:rPr lang="en-US" sz="1300" dirty="0" err="1"/>
              <a:t>rekomendasi</a:t>
            </a:r>
            <a:r>
              <a:rPr lang="en-US" sz="1300" dirty="0"/>
              <a:t> </a:t>
            </a:r>
            <a:r>
              <a:rPr lang="en-US" sz="1300" dirty="0" err="1"/>
              <a:t>untuk</a:t>
            </a:r>
            <a:r>
              <a:rPr lang="en-US" sz="1300" dirty="0"/>
              <a:t> </a:t>
            </a:r>
            <a:r>
              <a:rPr lang="en-US" sz="1300" dirty="0" err="1"/>
              <a:t>meningkatkan</a:t>
            </a:r>
            <a:r>
              <a:rPr lang="en-US" sz="1300" dirty="0"/>
              <a:t> revenue &amp; customer loyalty.</a:t>
            </a:r>
            <a:endParaRPr lang="en-US" sz="13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3"/>
          <p:cNvSpPr>
            <a:spLocks noGrp="1"/>
          </p:cNvSpPr>
          <p:nvPr>
            <p:ph type="subTitle"/>
          </p:nvPr>
        </p:nvSpPr>
        <p:spPr>
          <a:xfrm>
            <a:off x="7213600" y="129975"/>
            <a:ext cx="1778020" cy="37856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indent="0" algn="ctr">
              <a:buNone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Data Schema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D31001-F3E3-44CD-A916-86E329CCD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90615"/>
              </p:ext>
            </p:extLst>
          </p:nvPr>
        </p:nvGraphicFramePr>
        <p:xfrm>
          <a:off x="152380" y="1219994"/>
          <a:ext cx="4064020" cy="3262311"/>
        </p:xfrm>
        <a:graphic>
          <a:graphicData uri="http://schemas.openxmlformats.org/drawingml/2006/table">
            <a:tbl>
              <a:tblPr/>
              <a:tblGrid>
                <a:gridCol w="2025559">
                  <a:extLst>
                    <a:ext uri="{9D8B030D-6E8A-4147-A177-3AD203B41FA5}">
                      <a16:colId xmlns:a16="http://schemas.microsoft.com/office/drawing/2014/main" val="1594813738"/>
                    </a:ext>
                  </a:extLst>
                </a:gridCol>
                <a:gridCol w="2038461">
                  <a:extLst>
                    <a:ext uri="{9D8B030D-6E8A-4147-A177-3AD203B41FA5}">
                      <a16:colId xmlns:a16="http://schemas.microsoft.com/office/drawing/2014/main" val="2582911580"/>
                    </a:ext>
                  </a:extLst>
                </a:gridCol>
              </a:tblGrid>
              <a:tr h="191901">
                <a:tc>
                  <a:txBody>
                    <a:bodyPr/>
                    <a:lstStyle/>
                    <a:p>
                      <a:r>
                        <a:rPr lang="en-US" sz="900"/>
                        <a:t>Nama Kolom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Deskripsi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608422"/>
                  </a:ext>
                </a:extLst>
              </a:tr>
              <a:tr h="191901">
                <a:tc>
                  <a:txBody>
                    <a:bodyPr/>
                    <a:lstStyle/>
                    <a:p>
                      <a:r>
                        <a:rPr lang="en-US" sz="900"/>
                        <a:t>Date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Tanggal pemesanan perjalanan.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539723"/>
                  </a:ext>
                </a:extLst>
              </a:tr>
              <a:tr h="191901">
                <a:tc>
                  <a:txBody>
                    <a:bodyPr/>
                    <a:lstStyle/>
                    <a:p>
                      <a:r>
                        <a:rPr lang="en-US" sz="900"/>
                        <a:t>Time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Waktu pemesanan perjalanan.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4028936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r>
                        <a:rPr lang="en-US" sz="900"/>
                        <a:t>Booking ID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Pengenal unik untuk setiap pemesanan.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538775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r>
                        <a:rPr lang="en-US" sz="900"/>
                        <a:t>Booking Status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Status </a:t>
                      </a:r>
                      <a:r>
                        <a:rPr lang="en-US" sz="900" dirty="0" err="1"/>
                        <a:t>pemesanan</a:t>
                      </a:r>
                      <a:r>
                        <a:rPr lang="en-US" sz="900" dirty="0"/>
                        <a:t> (Completed, Cancelled, </a:t>
                      </a:r>
                      <a:r>
                        <a:rPr lang="en-US" sz="900" dirty="0" err="1"/>
                        <a:t>dll</a:t>
                      </a:r>
                      <a:r>
                        <a:rPr lang="en-US" sz="900" dirty="0"/>
                        <a:t>.).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590568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r>
                        <a:rPr lang="en-US" sz="900"/>
                        <a:t>Customer ID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Pengenal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unik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untuk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setiap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pelanggan</a:t>
                      </a:r>
                      <a:r>
                        <a:rPr lang="en-US" sz="900" dirty="0"/>
                        <a:t>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859430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r>
                        <a:rPr lang="en-US" sz="900"/>
                        <a:t>Vehicle Type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Jenis kendaraan (Go Mini, Go Sedan, eBike, dll.).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858519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r>
                        <a:rPr lang="en-US" sz="900"/>
                        <a:t>Pickup Location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Lokasi awal/penjemputan perjalanan.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586240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r>
                        <a:rPr lang="en-US" sz="900"/>
                        <a:t>Drop Location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Lokasi tujuan/pengantaran perjalanan.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394863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r>
                        <a:rPr lang="en-US" sz="900"/>
                        <a:t>Avg VTAT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Rata-rata waktu kedatangan kendaraan.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6838316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r>
                        <a:rPr lang="en-US" sz="900"/>
                        <a:t>Avg CTAT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Rata-rata </a:t>
                      </a:r>
                      <a:r>
                        <a:rPr lang="en-US" sz="900" dirty="0" err="1"/>
                        <a:t>waktu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kedatangan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pelanggan</a:t>
                      </a:r>
                      <a:r>
                        <a:rPr lang="en-US" sz="900" dirty="0"/>
                        <a:t>.</a:t>
                      </a:r>
                    </a:p>
                  </a:txBody>
                  <a:tcPr marL="47975" marR="47975" marT="23988" marB="239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6346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F9FFF3-3054-4B77-B37E-34C4F93A7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656609"/>
              </p:ext>
            </p:extLst>
          </p:nvPr>
        </p:nvGraphicFramePr>
        <p:xfrm>
          <a:off x="4572000" y="1613693"/>
          <a:ext cx="4466260" cy="32623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33130">
                  <a:extLst>
                    <a:ext uri="{9D8B030D-6E8A-4147-A177-3AD203B41FA5}">
                      <a16:colId xmlns:a16="http://schemas.microsoft.com/office/drawing/2014/main" val="2728262234"/>
                    </a:ext>
                  </a:extLst>
                </a:gridCol>
                <a:gridCol w="2233130">
                  <a:extLst>
                    <a:ext uri="{9D8B030D-6E8A-4147-A177-3AD203B41FA5}">
                      <a16:colId xmlns:a16="http://schemas.microsoft.com/office/drawing/2014/main" val="3730192435"/>
                    </a:ext>
                  </a:extLst>
                </a:gridCol>
              </a:tblGrid>
              <a:tr h="207131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578175"/>
                  </a:ext>
                </a:extLst>
              </a:tr>
              <a:tr h="362479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Cancelled Rides by Customer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Indikator pemesanan yang dibatalkan oleh pelanggan.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405903"/>
                  </a:ext>
                </a:extLst>
              </a:tr>
              <a:tr h="36247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Reason for cancelling by Customer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Alasan spesifik pembatalan pelanggan.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682207"/>
                  </a:ext>
                </a:extLst>
              </a:tr>
              <a:tr h="36247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Cancelled Rides by Driver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Indikator pemesanan yang dibatalkan oleh pengemudi.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453365"/>
                  </a:ext>
                </a:extLst>
              </a:tr>
              <a:tr h="362479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Driver Cancellation Reason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Alasan spesifik pembatalan pengemudi.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976466"/>
                  </a:ext>
                </a:extLst>
              </a:tr>
              <a:tr h="20713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Incomplete Rides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Indikator perjalanan tidak selesai.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313999"/>
                  </a:ext>
                </a:extLst>
              </a:tr>
              <a:tr h="20713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Incomplete Rides Reason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Alasan perjalanan tidak selesai.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906555"/>
                  </a:ext>
                </a:extLst>
              </a:tr>
              <a:tr h="20713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Booking Value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Total biaya perjalanan.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754163"/>
                  </a:ext>
                </a:extLst>
              </a:tr>
              <a:tr h="20713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Ride Distance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Jarak perjalanan (km).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424333"/>
                  </a:ext>
                </a:extLst>
              </a:tr>
              <a:tr h="20713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Driver Ratings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Rating pengemudi (1–5).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395699"/>
                  </a:ext>
                </a:extLst>
              </a:tr>
              <a:tr h="20713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Customer Rating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Rating pelanggan (1–5).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721507"/>
                  </a:ext>
                </a:extLst>
              </a:tr>
              <a:tr h="36247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Payment Method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Metode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pembayaran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(UPI, Cash, Credit Card,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dll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.).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8848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8600" y="882740"/>
            <a:ext cx="6981480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Performance KPIs Analysis</a:t>
            </a:r>
            <a:endParaRPr lang="fr-FR" sz="5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228600" y="3159020"/>
            <a:ext cx="1238040" cy="110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Hubot Sans Medium"/>
              </a:rPr>
              <a:t>01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0316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14300" y="127060"/>
            <a:ext cx="4304880" cy="9905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Total Revenue and Ride Statistics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234950" y="3636092"/>
            <a:ext cx="5524140" cy="12417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Uber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mencatat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148.767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perjalanan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yang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menghasilkan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Rp51,8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juta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dengan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jarak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rata-rata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perjalanan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24,64 km. Tingkat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keberhasilan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perjalanan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secara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keseluruhan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sekitar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62%,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dengan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total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perjalanan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yang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berhasil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diselesaikan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sebanyak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93.000.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7468FC-89EE-499E-9148-D1CABCF8E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566407"/>
              </p:ext>
            </p:extLst>
          </p:nvPr>
        </p:nvGraphicFramePr>
        <p:xfrm>
          <a:off x="234950" y="1117600"/>
          <a:ext cx="3790530" cy="2148840"/>
        </p:xfrm>
        <a:graphic>
          <a:graphicData uri="http://schemas.openxmlformats.org/drawingml/2006/table">
            <a:tbl>
              <a:tblPr/>
              <a:tblGrid>
                <a:gridCol w="1895265">
                  <a:extLst>
                    <a:ext uri="{9D8B030D-6E8A-4147-A177-3AD203B41FA5}">
                      <a16:colId xmlns:a16="http://schemas.microsoft.com/office/drawing/2014/main" val="783274784"/>
                    </a:ext>
                  </a:extLst>
                </a:gridCol>
                <a:gridCol w="1895265">
                  <a:extLst>
                    <a:ext uri="{9D8B030D-6E8A-4147-A177-3AD203B41FA5}">
                      <a16:colId xmlns:a16="http://schemas.microsoft.com/office/drawing/2014/main" val="1104979630"/>
                    </a:ext>
                  </a:extLst>
                </a:gridCol>
              </a:tblGrid>
              <a:tr h="214789">
                <a:tc>
                  <a:txBody>
                    <a:bodyPr/>
                    <a:lstStyle/>
                    <a:p>
                      <a:r>
                        <a:rPr lang="en-US" sz="1100"/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Insight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44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Pendapatan</a:t>
                      </a:r>
                      <a:r>
                        <a:rPr lang="en-US" sz="1100" b="1" dirty="0"/>
                        <a:t> Total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Rp51.846.384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27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Jarak </a:t>
                      </a:r>
                      <a:r>
                        <a:rPr lang="en-US" sz="1100" b="1" dirty="0" err="1"/>
                        <a:t>Tempuh</a:t>
                      </a:r>
                      <a:r>
                        <a:rPr lang="en-US" sz="1100" b="1" dirty="0"/>
                        <a:t> Rata-rata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24,64 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Jumlah Tipe Kendaraan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 </a:t>
                      </a:r>
                      <a:r>
                        <a:rPr lang="en-US" sz="1100" dirty="0" err="1"/>
                        <a:t>jenis</a:t>
                      </a:r>
                      <a:r>
                        <a:rPr lang="en-US" sz="1100" dirty="0"/>
                        <a:t> (Auto, Go Mini, Go Sedan, Bike, E-bike, Premier Sedan, Uber XL)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419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Total Pesanan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148.767 perjalanan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861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Jumlah Pelanggan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150.000 pengguna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486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Tingkat Keberhasilan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62% </a:t>
                      </a:r>
                      <a:r>
                        <a:rPr lang="en-US" sz="1100" dirty="0" err="1"/>
                        <a:t>dari</a:t>
                      </a:r>
                      <a:r>
                        <a:rPr lang="en-US" sz="1100" dirty="0"/>
                        <a:t> 93.000 </a:t>
                      </a:r>
                      <a:r>
                        <a:rPr lang="en-US" sz="1100" dirty="0" err="1"/>
                        <a:t>perjalanan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37938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CAAFAB-7C23-466F-B907-19FFF1F7E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664609"/>
              </p:ext>
            </p:extLst>
          </p:nvPr>
        </p:nvGraphicFramePr>
        <p:xfrm>
          <a:off x="4298530" y="1117600"/>
          <a:ext cx="4610520" cy="2375116"/>
        </p:xfrm>
        <a:graphic>
          <a:graphicData uri="http://schemas.openxmlformats.org/drawingml/2006/table">
            <a:tbl>
              <a:tblPr/>
              <a:tblGrid>
                <a:gridCol w="1359320">
                  <a:extLst>
                    <a:ext uri="{9D8B030D-6E8A-4147-A177-3AD203B41FA5}">
                      <a16:colId xmlns:a16="http://schemas.microsoft.com/office/drawing/2014/main" val="3597070631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3812604806"/>
                    </a:ext>
                  </a:extLst>
                </a:gridCol>
              </a:tblGrid>
              <a:tr h="220309">
                <a:tc>
                  <a:txBody>
                    <a:bodyPr/>
                    <a:lstStyle/>
                    <a:p>
                      <a:r>
                        <a:rPr lang="en-US" sz="1100"/>
                        <a:t>Metrik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Insight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586834"/>
                  </a:ext>
                </a:extLst>
              </a:tr>
              <a:tr h="371978">
                <a:tc>
                  <a:txBody>
                    <a:bodyPr/>
                    <a:lstStyle/>
                    <a:p>
                      <a:r>
                        <a:rPr lang="en-US" sz="1100" b="1"/>
                        <a:t>Pembatalan Perjalanan</a:t>
                      </a:r>
                      <a:endParaRPr lang="en-US" sz="1100"/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37.500 (25%)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143011"/>
                  </a:ext>
                </a:extLst>
              </a:tr>
              <a:tr h="220309">
                <a:tc>
                  <a:txBody>
                    <a:bodyPr/>
                    <a:lstStyle/>
                    <a:p>
                      <a:r>
                        <a:rPr lang="en-US" sz="1100"/>
                        <a:t>• Oleh Pengemudi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27.500 (18%)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119470"/>
                  </a:ext>
                </a:extLst>
              </a:tr>
              <a:tr h="220309">
                <a:tc>
                  <a:txBody>
                    <a:bodyPr/>
                    <a:lstStyle/>
                    <a:p>
                      <a:r>
                        <a:rPr lang="en-US" sz="1100"/>
                        <a:t>• Oleh Pelanggan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10.500 (7%)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472290"/>
                  </a:ext>
                </a:extLst>
              </a:tr>
              <a:tr h="371978">
                <a:tc>
                  <a:txBody>
                    <a:bodyPr/>
                    <a:lstStyle/>
                    <a:p>
                      <a:r>
                        <a:rPr lang="en-US" sz="1100" b="1" dirty="0"/>
                        <a:t>Kesimpulan</a:t>
                      </a:r>
                      <a:endParaRPr lang="en-US" sz="1100" dirty="0"/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Pembatalan</a:t>
                      </a:r>
                      <a:r>
                        <a:rPr lang="en-US" sz="1100" dirty="0"/>
                        <a:t> oleh </a:t>
                      </a:r>
                      <a:r>
                        <a:rPr lang="en-US" sz="1100" dirty="0" err="1"/>
                        <a:t>pengemudi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lebih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tinggi</a:t>
                      </a:r>
                      <a:r>
                        <a:rPr lang="en-US" sz="1100" dirty="0"/>
                        <a:t> (18%) → </a:t>
                      </a:r>
                      <a:r>
                        <a:rPr lang="en-US" sz="1100" dirty="0" err="1"/>
                        <a:t>perlu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evaluasi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perilaku</a:t>
                      </a:r>
                      <a:r>
                        <a:rPr lang="en-US" sz="1100" dirty="0"/>
                        <a:t> driver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992764"/>
                  </a:ext>
                </a:extLst>
              </a:tr>
              <a:tr h="371978">
                <a:tc>
                  <a:txBody>
                    <a:bodyPr/>
                    <a:lstStyle/>
                    <a:p>
                      <a:r>
                        <a:rPr lang="en-US" sz="1100" b="1"/>
                        <a:t>Perjalanan Tidak Selesai</a:t>
                      </a:r>
                      <a:endParaRPr lang="en-US" sz="1100"/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9.000 (6%) → menimbulkan kerugian sumber daya &amp; pendapatan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173847"/>
                  </a:ext>
                </a:extLst>
              </a:tr>
              <a:tr h="371978">
                <a:tc>
                  <a:txBody>
                    <a:bodyPr/>
                    <a:lstStyle/>
                    <a:p>
                      <a:r>
                        <a:rPr lang="en-US" sz="1100" b="1" dirty="0"/>
                        <a:t>Ratings Gap</a:t>
                      </a:r>
                      <a:endParaRPr lang="en-US" sz="1100" dirty="0"/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Driver rating </a:t>
                      </a:r>
                      <a:r>
                        <a:rPr lang="en-US" sz="1100" b="1" dirty="0"/>
                        <a:t>4.23</a:t>
                      </a:r>
                      <a:r>
                        <a:rPr lang="en-US" sz="1100" dirty="0"/>
                        <a:t> &lt; Customer rating </a:t>
                      </a:r>
                      <a:r>
                        <a:rPr lang="en-US" sz="1100" b="1" dirty="0"/>
                        <a:t>4.40</a:t>
                      </a:r>
                      <a:r>
                        <a:rPr lang="en-US" sz="1100" dirty="0"/>
                        <a:t> → </a:t>
                      </a:r>
                      <a:r>
                        <a:rPr lang="en-US" sz="1100" dirty="0" err="1"/>
                        <a:t>fokus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peningkatan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layanan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pengemudi</a:t>
                      </a:r>
                      <a:endParaRPr lang="en-US" sz="1100" dirty="0"/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0256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4304880" cy="54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Ride Cancellation Patterns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2003215" y="3350120"/>
            <a:ext cx="5060530" cy="15266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Pembatalan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perjalanan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menyumbang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25%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dari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total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pesanan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,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didorong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terutama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oleh driver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sebesar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18% (total 27.500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perjalanan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)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dibandingkan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dengan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7% (total 10.500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perjalanan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) oleh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pelanggan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.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Perjalanan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yang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tidak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selesai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menyumbang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6% (total 9000 order),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menunjukkan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adanya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tantangan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operasional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DE9962-1F0E-4627-B2AD-D5C3EADF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812800"/>
            <a:ext cx="4058216" cy="2248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A9D6D-BE73-4C6A-847B-65F3FAF27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236" y="812800"/>
            <a:ext cx="4039164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8900" y="0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Vehicle Performance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88900" y="3264080"/>
            <a:ext cx="4323960" cy="162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000000"/>
                </a:solidFill>
                <a:effectLst/>
                <a:uFillTx/>
              </a:rPr>
              <a:t>Insight: :</a:t>
            </a:r>
            <a:br>
              <a:rPr lang="en-US" sz="1100" b="0" u="none" strike="noStrike" dirty="0">
                <a:solidFill>
                  <a:srgbClr val="000000"/>
                </a:solidFill>
                <a:effectLst/>
                <a:uFillTx/>
              </a:rPr>
            </a:br>
            <a:r>
              <a:rPr lang="en-US" sz="1100" b="0" u="none" strike="noStrike" dirty="0">
                <a:solidFill>
                  <a:srgbClr val="000000"/>
                </a:solidFill>
                <a:effectLst/>
                <a:uFillTx/>
              </a:rPr>
              <a:t>1. </a:t>
            </a:r>
            <a:r>
              <a:rPr lang="en-US" sz="1100" b="1" dirty="0"/>
              <a:t>Auto</a:t>
            </a:r>
            <a:r>
              <a:rPr lang="en-US" sz="1100" dirty="0"/>
              <a:t> </a:t>
            </a:r>
            <a:r>
              <a:rPr lang="en-US" sz="1100" dirty="0" err="1"/>
              <a:t>merupakan</a:t>
            </a:r>
            <a:r>
              <a:rPr lang="en-US" sz="1100" dirty="0"/>
              <a:t> </a:t>
            </a:r>
            <a:r>
              <a:rPr lang="en-US" sz="1100" dirty="0" err="1"/>
              <a:t>jenis</a:t>
            </a:r>
            <a:r>
              <a:rPr lang="en-US" sz="1100" dirty="0"/>
              <a:t> </a:t>
            </a:r>
            <a:r>
              <a:rPr lang="en-US" sz="1100" dirty="0" err="1"/>
              <a:t>kendaraan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jumlah</a:t>
            </a:r>
            <a:r>
              <a:rPr lang="en-US" sz="1100" dirty="0"/>
              <a:t> </a:t>
            </a:r>
            <a:r>
              <a:rPr lang="en-US" sz="1100" dirty="0" err="1"/>
              <a:t>perjalanan</a:t>
            </a:r>
            <a:r>
              <a:rPr lang="en-US" sz="1100" dirty="0"/>
              <a:t> complete </a:t>
            </a:r>
            <a:r>
              <a:rPr lang="en-US" sz="1100" dirty="0" err="1"/>
              <a:t>terbanyak</a:t>
            </a:r>
            <a:r>
              <a:rPr lang="en-US" sz="1100" dirty="0"/>
              <a:t>, </a:t>
            </a:r>
            <a:r>
              <a:rPr lang="en-US" sz="1100" dirty="0" err="1"/>
              <a:t>sebanyak</a:t>
            </a:r>
            <a:r>
              <a:rPr lang="en-US" sz="1100" dirty="0"/>
              <a:t> 23.155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tingkat</a:t>
            </a:r>
            <a:r>
              <a:rPr lang="en-US" sz="1100" dirty="0"/>
              <a:t> </a:t>
            </a:r>
            <a:r>
              <a:rPr lang="en-US" sz="1100" dirty="0" err="1"/>
              <a:t>keberhasilan</a:t>
            </a:r>
            <a:r>
              <a:rPr lang="en-US" sz="1100" dirty="0"/>
              <a:t> </a:t>
            </a:r>
            <a:r>
              <a:rPr lang="en-US" sz="1100" dirty="0" err="1"/>
              <a:t>sebesar</a:t>
            </a:r>
            <a:r>
              <a:rPr lang="en-US" sz="1100" dirty="0"/>
              <a:t> 61.88%</a:t>
            </a:r>
          </a:p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000000"/>
                </a:solidFill>
                <a:effectLst/>
                <a:uFillTx/>
              </a:rPr>
              <a:t>2. </a:t>
            </a:r>
            <a:r>
              <a:rPr lang="en-US" sz="1100" b="1" dirty="0"/>
              <a:t>Uber XL</a:t>
            </a:r>
            <a:r>
              <a:rPr lang="en-US" sz="1100" dirty="0"/>
              <a:t> </a:t>
            </a:r>
            <a:r>
              <a:rPr lang="en-US" sz="1100" dirty="0" err="1"/>
              <a:t>memiliki</a:t>
            </a:r>
            <a:r>
              <a:rPr lang="en-US" sz="1100" dirty="0"/>
              <a:t> </a:t>
            </a:r>
            <a:r>
              <a:rPr lang="en-US" sz="1100" dirty="0" err="1"/>
              <a:t>tingkat</a:t>
            </a:r>
            <a:r>
              <a:rPr lang="en-US" sz="1100" dirty="0"/>
              <a:t> </a:t>
            </a:r>
            <a:r>
              <a:rPr lang="en-US" sz="1100" dirty="0" err="1"/>
              <a:t>keberhasilan</a:t>
            </a:r>
            <a:r>
              <a:rPr lang="en-US" sz="1100" dirty="0"/>
              <a:t> </a:t>
            </a:r>
            <a:r>
              <a:rPr lang="en-US" sz="1100" dirty="0" err="1"/>
              <a:t>tertinggi</a:t>
            </a:r>
            <a:r>
              <a:rPr lang="en-US" sz="1100" dirty="0"/>
              <a:t> (</a:t>
            </a:r>
            <a:r>
              <a:rPr lang="en-US" sz="1100" b="1" dirty="0"/>
              <a:t>62,55%</a:t>
            </a:r>
            <a:r>
              <a:rPr lang="en-US" sz="1100" dirty="0"/>
              <a:t>) </a:t>
            </a:r>
            <a:r>
              <a:rPr lang="en-US" sz="1100" dirty="0" err="1"/>
              <a:t>meski</a:t>
            </a:r>
            <a:r>
              <a:rPr lang="en-US" sz="1100" dirty="0"/>
              <a:t> </a:t>
            </a:r>
            <a:r>
              <a:rPr lang="en-US" sz="1100" dirty="0" err="1"/>
              <a:t>jumlah</a:t>
            </a:r>
            <a:r>
              <a:rPr lang="en-US" sz="1100" dirty="0"/>
              <a:t> </a:t>
            </a:r>
            <a:r>
              <a:rPr lang="en-US" sz="1100" dirty="0" err="1"/>
              <a:t>pesanan</a:t>
            </a:r>
            <a:r>
              <a:rPr lang="en-US" sz="1100" dirty="0"/>
              <a:t> </a:t>
            </a:r>
            <a:r>
              <a:rPr lang="en-US" sz="1100" dirty="0" err="1"/>
              <a:t>relatif</a:t>
            </a:r>
            <a:r>
              <a:rPr lang="en-US" sz="1100" dirty="0"/>
              <a:t> </a:t>
            </a:r>
            <a:r>
              <a:rPr lang="en-US" sz="1100" dirty="0" err="1"/>
              <a:t>kecil</a:t>
            </a:r>
            <a:r>
              <a:rPr lang="en-US" sz="1100" dirty="0"/>
              <a:t> (</a:t>
            </a:r>
            <a:r>
              <a:rPr lang="en-US" sz="1100" b="1" dirty="0"/>
              <a:t>2.783 </a:t>
            </a:r>
            <a:r>
              <a:rPr lang="en-US" sz="1100" b="1" dirty="0" err="1"/>
              <a:t>perjalanan</a:t>
            </a:r>
            <a:r>
              <a:rPr lang="en-US" sz="1100" dirty="0"/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9" name="Google Shape;224;p32" title="scenes-people-work.jpg"/>
          <p:cNvSpPr/>
          <p:nvPr/>
        </p:nvSpPr>
        <p:spPr>
          <a:xfrm>
            <a:off x="6959600" y="228600"/>
            <a:ext cx="2095500" cy="46630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19050">
            <a:solidFill>
              <a:srgbClr val="FEA86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39BEF-5694-44BA-BE67-C65845031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3" y="698500"/>
            <a:ext cx="4362577" cy="2438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375E15-813C-4883-9B83-FE52CD980352}"/>
              </a:ext>
            </a:extLst>
          </p:cNvPr>
          <p:cNvSpPr txBox="1"/>
          <p:nvPr/>
        </p:nvSpPr>
        <p:spPr>
          <a:xfrm>
            <a:off x="4572000" y="874683"/>
            <a:ext cx="230505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28600" y="1200240"/>
            <a:ext cx="6981480" cy="18096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Customer Segmentation and Retention</a:t>
            </a:r>
            <a:endParaRPr lang="fr-FR" sz="5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228600" y="3191010"/>
            <a:ext cx="1238040" cy="110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Hubot Sans Medium"/>
              </a:rPr>
              <a:t>02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0" y="67470"/>
            <a:ext cx="4304880" cy="4759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Customer Ratings Distribution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4572000" y="305445"/>
            <a:ext cx="4466865" cy="209485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100" b="1" i="0" dirty="0">
                <a:effectLst/>
              </a:rPr>
              <a:t>Key Findings:</a:t>
            </a:r>
            <a:endParaRPr lang="en-US" sz="1100" b="0" i="0" dirty="0">
              <a:effectLst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Mayoritas</a:t>
            </a:r>
            <a:r>
              <a:rPr lang="en-US" sz="900" b="0" i="0" dirty="0">
                <a:effectLst/>
              </a:rPr>
              <a:t> rating </a:t>
            </a:r>
            <a:r>
              <a:rPr lang="en-US" sz="900" b="0" i="0" dirty="0" err="1">
                <a:effectLst/>
              </a:rPr>
              <a:t>pelanggan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berada</a:t>
            </a:r>
            <a:r>
              <a:rPr lang="en-US" sz="900" b="0" i="0" dirty="0">
                <a:effectLst/>
              </a:rPr>
              <a:t> di </a:t>
            </a:r>
            <a:r>
              <a:rPr lang="en-US" sz="900" b="0" i="0" dirty="0" err="1">
                <a:effectLst/>
              </a:rPr>
              <a:t>kisaran</a:t>
            </a:r>
            <a:r>
              <a:rPr lang="en-US" sz="900" b="0" i="0" dirty="0">
                <a:effectLst/>
              </a:rPr>
              <a:t> 4.1 </a:t>
            </a:r>
            <a:r>
              <a:rPr lang="en-US" sz="900" b="0" i="0" dirty="0" err="1">
                <a:effectLst/>
              </a:rPr>
              <a:t>hingga</a:t>
            </a:r>
            <a:r>
              <a:rPr lang="en-US" sz="900" b="0" i="0" dirty="0">
                <a:effectLst/>
              </a:rPr>
              <a:t> 4.9. </a:t>
            </a:r>
            <a:r>
              <a:rPr lang="en-US" sz="900" b="0" i="0" dirty="0" err="1">
                <a:effectLst/>
              </a:rPr>
              <a:t>Ini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menunjukkan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bahwa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sebagian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besar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pelanggan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memiliki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pengalaman</a:t>
            </a:r>
            <a:r>
              <a:rPr lang="en-US" sz="900" b="0" i="0" dirty="0">
                <a:effectLst/>
              </a:rPr>
              <a:t> yang sangat </a:t>
            </a:r>
            <a:r>
              <a:rPr lang="en-US" sz="900" b="0" i="0" dirty="0" err="1">
                <a:effectLst/>
              </a:rPr>
              <a:t>positif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atau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puas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dengan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layanan</a:t>
            </a:r>
            <a:r>
              <a:rPr lang="en-US" sz="900" b="0" i="0" dirty="0">
                <a:effectLst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0" i="0" dirty="0">
                <a:effectLst/>
              </a:rPr>
              <a:t> Rata-rata ratings yang </a:t>
            </a:r>
            <a:r>
              <a:rPr lang="en-US" sz="900" b="0" i="0" dirty="0" err="1">
                <a:effectLst/>
              </a:rPr>
              <a:t>diberikan</a:t>
            </a:r>
            <a:r>
              <a:rPr lang="en-US" sz="900" b="0" i="0" dirty="0">
                <a:effectLst/>
              </a:rPr>
              <a:t> customer </a:t>
            </a:r>
            <a:r>
              <a:rPr lang="en-US" sz="900" b="0" i="0" dirty="0" err="1">
                <a:effectLst/>
              </a:rPr>
              <a:t>berada</a:t>
            </a:r>
            <a:r>
              <a:rPr lang="en-US" sz="900" b="0" i="0" dirty="0">
                <a:effectLst/>
              </a:rPr>
              <a:t> di </a:t>
            </a:r>
            <a:r>
              <a:rPr lang="en-US" sz="900" b="0" i="0" dirty="0" err="1">
                <a:effectLst/>
              </a:rPr>
              <a:t>kisaran</a:t>
            </a:r>
            <a:r>
              <a:rPr lang="en-US" sz="900" b="0" i="0" dirty="0">
                <a:effectLst/>
              </a:rPr>
              <a:t> rating 4.40 </a:t>
            </a:r>
            <a:r>
              <a:rPr lang="en-US" sz="900" b="0" i="0" dirty="0" err="1">
                <a:effectLst/>
              </a:rPr>
              <a:t>berdasarkan</a:t>
            </a:r>
            <a:r>
              <a:rPr lang="en-US" sz="900" b="0" i="0" dirty="0">
                <a:effectLst/>
              </a:rPr>
              <a:t> table </a:t>
            </a:r>
            <a:r>
              <a:rPr lang="en-US" sz="900" b="0" i="0" dirty="0" err="1">
                <a:effectLst/>
              </a:rPr>
              <a:t>yg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ada</a:t>
            </a:r>
            <a:r>
              <a:rPr lang="en-US" sz="900" b="0" i="0" dirty="0">
                <a:effectLst/>
              </a:rPr>
              <a:t> di vehicle </a:t>
            </a:r>
            <a:r>
              <a:rPr lang="en-US" sz="900" b="0" i="0" dirty="0" err="1">
                <a:effectLst/>
              </a:rPr>
              <a:t>performace</a:t>
            </a:r>
            <a:r>
              <a:rPr lang="en-US" sz="900" b="0" i="0" dirty="0">
                <a:effectLst/>
              </a:rPr>
              <a:t> KPI table.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Sebaran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untuk</a:t>
            </a:r>
            <a:r>
              <a:rPr lang="en-US" sz="900" b="0" i="0" dirty="0">
                <a:effectLst/>
              </a:rPr>
              <a:t> rating </a:t>
            </a:r>
            <a:r>
              <a:rPr lang="en-US" sz="900" b="0" i="0" dirty="0" err="1">
                <a:effectLst/>
              </a:rPr>
              <a:t>dibawah</a:t>
            </a:r>
            <a:r>
              <a:rPr lang="en-US" sz="900" b="0" i="0" dirty="0">
                <a:effectLst/>
              </a:rPr>
              <a:t> 4.0 </a:t>
            </a:r>
            <a:r>
              <a:rPr lang="en-US" sz="900" b="0" i="0" dirty="0" err="1">
                <a:effectLst/>
              </a:rPr>
              <a:t>relatif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cukup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keci</a:t>
            </a:r>
            <a:r>
              <a:rPr lang="en-US" sz="900" b="0" i="0" dirty="0">
                <a:effectLst/>
              </a:rPr>
              <a:t>, </a:t>
            </a:r>
            <a:r>
              <a:rPr lang="en-US" sz="900" b="0" i="0" dirty="0" err="1">
                <a:effectLst/>
              </a:rPr>
              <a:t>mengindikasikan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bahwa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penglaman</a:t>
            </a:r>
            <a:r>
              <a:rPr lang="en-US" sz="900" b="0" i="0" dirty="0">
                <a:effectLst/>
              </a:rPr>
              <a:t> yang </a:t>
            </a:r>
            <a:r>
              <a:rPr lang="en-US" sz="900" b="0" i="0" dirty="0" err="1">
                <a:effectLst/>
              </a:rPr>
              <a:t>buruk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jarang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terjadi</a:t>
            </a:r>
            <a:r>
              <a:rPr lang="en-US" sz="900" b="0" i="0" dirty="0">
                <a:effectLst/>
              </a:rPr>
              <a:t>. </a:t>
            </a:r>
            <a:r>
              <a:rPr lang="en-US" sz="900" b="0" i="0" dirty="0" err="1">
                <a:effectLst/>
              </a:rPr>
              <a:t>Namun</a:t>
            </a:r>
            <a:r>
              <a:rPr lang="en-US" sz="900" b="0" i="0" dirty="0">
                <a:effectLst/>
              </a:rPr>
              <a:t>, </a:t>
            </a:r>
            <a:r>
              <a:rPr lang="en-US" sz="900" b="0" i="0" dirty="0" err="1">
                <a:effectLst/>
              </a:rPr>
              <a:t>adanya</a:t>
            </a:r>
            <a:r>
              <a:rPr lang="en-US" sz="900" b="0" i="0" dirty="0">
                <a:effectLst/>
              </a:rPr>
              <a:t> customer </a:t>
            </a:r>
            <a:r>
              <a:rPr lang="en-US" sz="900" b="0" i="0" dirty="0" err="1">
                <a:effectLst/>
              </a:rPr>
              <a:t>yg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tetap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memberikan</a:t>
            </a:r>
            <a:r>
              <a:rPr lang="en-US" sz="900" b="0" i="0" dirty="0">
                <a:effectLst/>
              </a:rPr>
              <a:t> rating </a:t>
            </a:r>
            <a:r>
              <a:rPr lang="en-US" sz="900" b="0" i="0" dirty="0" err="1">
                <a:effectLst/>
              </a:rPr>
              <a:t>rendah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ini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 dirty="0" err="1">
                <a:effectLst/>
              </a:rPr>
              <a:t>terutama</a:t>
            </a:r>
            <a:r>
              <a:rPr lang="en-US" sz="900" b="0" i="0" dirty="0">
                <a:effectLst/>
              </a:rPr>
              <a:t> di rating 3.6 - 3.9 </a:t>
            </a:r>
            <a:r>
              <a:rPr lang="en-US" sz="900" b="0" i="0" dirty="0" err="1">
                <a:effectLst/>
              </a:rPr>
              <a:t>perlu</a:t>
            </a:r>
            <a:r>
              <a:rPr lang="en-US" sz="900" b="0" i="0" dirty="0">
                <a:effectLst/>
              </a:rPr>
              <a:t> di </a:t>
            </a:r>
            <a:r>
              <a:rPr lang="en-US" sz="900" b="0" i="0" dirty="0" err="1">
                <a:effectLst/>
              </a:rPr>
              <a:t>perhatikan</a:t>
            </a:r>
            <a:r>
              <a:rPr lang="en-US" sz="900" b="0" i="0" dirty="0">
                <a:effectLst/>
              </a:rPr>
              <a:t>.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endParaRPr lang="en-US" sz="1100" b="0" u="none" strike="noStrike" dirty="0">
              <a:effectLst/>
              <a:uFillTx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57B29A-7CE0-48D6-B8A7-ED9129AE2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5" y="1019422"/>
            <a:ext cx="4397155" cy="2761755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02EF33FE-26B0-418C-A73C-A13122904EE3}"/>
              </a:ext>
            </a:extLst>
          </p:cNvPr>
          <p:cNvSpPr txBox="1">
            <a:spLocks/>
          </p:cNvSpPr>
          <p:nvPr/>
        </p:nvSpPr>
        <p:spPr>
          <a:xfrm>
            <a:off x="4572000" y="2352697"/>
            <a:ext cx="4466865" cy="209485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100" b="1" dirty="0"/>
              <a:t>Business solution &amp; recommendation:</a:t>
            </a:r>
            <a:endParaRPr lang="en-US" sz="1100" dirty="0"/>
          </a:p>
          <a:p>
            <a:pPr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Sebagian </a:t>
            </a:r>
            <a:r>
              <a:rPr lang="en-US" sz="900" dirty="0" err="1"/>
              <a:t>besar</a:t>
            </a:r>
            <a:r>
              <a:rPr lang="en-US" sz="900" dirty="0"/>
              <a:t> customer </a:t>
            </a:r>
            <a:r>
              <a:rPr lang="en-US" sz="900" dirty="0" err="1"/>
              <a:t>memberikan</a:t>
            </a:r>
            <a:r>
              <a:rPr lang="en-US" sz="900" dirty="0"/>
              <a:t> rating yang </a:t>
            </a:r>
            <a:r>
              <a:rPr lang="en-US" sz="900" dirty="0" err="1"/>
              <a:t>tinggi</a:t>
            </a:r>
            <a:r>
              <a:rPr lang="en-US" sz="900" dirty="0"/>
              <a:t>, </a:t>
            </a:r>
            <a:r>
              <a:rPr lang="en-US" sz="900" dirty="0" err="1"/>
              <a:t>ini</a:t>
            </a:r>
            <a:r>
              <a:rPr lang="en-US" sz="900" dirty="0"/>
              <a:t> </a:t>
            </a:r>
            <a:r>
              <a:rPr lang="en-US" sz="900" dirty="0" err="1"/>
              <a:t>berarti</a:t>
            </a:r>
            <a:r>
              <a:rPr lang="en-US" sz="900" dirty="0"/>
              <a:t> </a:t>
            </a:r>
            <a:r>
              <a:rPr lang="en-US" sz="900" dirty="0" err="1"/>
              <a:t>untuk</a:t>
            </a:r>
            <a:r>
              <a:rPr lang="en-US" sz="900" dirty="0"/>
              <a:t> </a:t>
            </a:r>
            <a:r>
              <a:rPr lang="en-US" sz="900" dirty="0" err="1"/>
              <a:t>layanan</a:t>
            </a:r>
            <a:r>
              <a:rPr lang="en-US" sz="900" dirty="0"/>
              <a:t> </a:t>
            </a:r>
            <a:r>
              <a:rPr lang="en-US" sz="900" dirty="0" err="1"/>
              <a:t>keseluruhan</a:t>
            </a:r>
            <a:r>
              <a:rPr lang="en-US" sz="900" dirty="0"/>
              <a:t> </a:t>
            </a:r>
            <a:r>
              <a:rPr lang="en-US" sz="900" dirty="0" err="1"/>
              <a:t>memenuhi</a:t>
            </a:r>
            <a:r>
              <a:rPr lang="en-US" sz="900" dirty="0"/>
              <a:t> </a:t>
            </a:r>
            <a:r>
              <a:rPr lang="en-US" sz="900" dirty="0" err="1"/>
              <a:t>atau</a:t>
            </a:r>
            <a:r>
              <a:rPr lang="en-US" sz="900" dirty="0"/>
              <a:t> </a:t>
            </a:r>
            <a:r>
              <a:rPr lang="en-US" sz="900" dirty="0" err="1"/>
              <a:t>bahkan</a:t>
            </a:r>
            <a:r>
              <a:rPr lang="en-US" sz="900" dirty="0"/>
              <a:t> </a:t>
            </a:r>
            <a:r>
              <a:rPr lang="en-US" sz="900" dirty="0" err="1"/>
              <a:t>melampaui</a:t>
            </a:r>
            <a:r>
              <a:rPr lang="en-US" sz="900" dirty="0"/>
              <a:t> </a:t>
            </a:r>
            <a:r>
              <a:rPr lang="en-US" sz="900" dirty="0" err="1"/>
              <a:t>ekspektasi</a:t>
            </a:r>
            <a:r>
              <a:rPr lang="en-US" sz="900" dirty="0"/>
              <a:t>.</a:t>
            </a:r>
          </a:p>
          <a:p>
            <a:pPr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 err="1"/>
              <a:t>Adanya</a:t>
            </a:r>
            <a:r>
              <a:rPr lang="en-US" sz="900" dirty="0"/>
              <a:t> </a:t>
            </a:r>
            <a:r>
              <a:rPr lang="en-US" sz="900" dirty="0" err="1"/>
              <a:t>indikator</a:t>
            </a:r>
            <a:r>
              <a:rPr lang="en-US" sz="900" dirty="0"/>
              <a:t> </a:t>
            </a:r>
            <a:r>
              <a:rPr lang="en-US" sz="900" dirty="0" err="1"/>
              <a:t>ketidak</a:t>
            </a:r>
            <a:r>
              <a:rPr lang="en-US" sz="900" dirty="0"/>
              <a:t> </a:t>
            </a:r>
            <a:r>
              <a:rPr lang="en-US" sz="900" dirty="0" err="1"/>
              <a:t>puasan</a:t>
            </a:r>
            <a:r>
              <a:rPr lang="en-US" sz="900" dirty="0"/>
              <a:t> </a:t>
            </a:r>
            <a:r>
              <a:rPr lang="en-US" sz="900" dirty="0" err="1"/>
              <a:t>terhadap</a:t>
            </a:r>
            <a:r>
              <a:rPr lang="en-US" sz="900" dirty="0"/>
              <a:t> </a:t>
            </a:r>
            <a:r>
              <a:rPr lang="en-US" sz="900" dirty="0" err="1"/>
              <a:t>layanan</a:t>
            </a:r>
            <a:r>
              <a:rPr lang="en-US" sz="900" dirty="0"/>
              <a:t> dan </a:t>
            </a:r>
            <a:r>
              <a:rPr lang="en-US" sz="900" dirty="0" err="1"/>
              <a:t>berpotensi</a:t>
            </a:r>
            <a:r>
              <a:rPr lang="en-US" sz="900" dirty="0"/>
              <a:t> </a:t>
            </a:r>
            <a:r>
              <a:rPr lang="en-US" sz="900" dirty="0" err="1"/>
              <a:t>untuk</a:t>
            </a:r>
            <a:r>
              <a:rPr lang="en-US" sz="900" dirty="0"/>
              <a:t> </a:t>
            </a:r>
            <a:r>
              <a:rPr lang="en-US" sz="900" dirty="0" err="1"/>
              <a:t>tidak</a:t>
            </a:r>
            <a:r>
              <a:rPr lang="en-US" sz="900" dirty="0"/>
              <a:t> </a:t>
            </a:r>
            <a:r>
              <a:rPr lang="en-US" sz="900" dirty="0" err="1"/>
              <a:t>menggunakan</a:t>
            </a:r>
            <a:r>
              <a:rPr lang="en-US" sz="900" dirty="0"/>
              <a:t> Uber </a:t>
            </a:r>
            <a:r>
              <a:rPr lang="en-US" sz="900" dirty="0" err="1"/>
              <a:t>lagi</a:t>
            </a:r>
            <a:r>
              <a:rPr lang="en-US" sz="900" dirty="0"/>
              <a:t>, </a:t>
            </a:r>
            <a:r>
              <a:rPr lang="en-US" sz="900" dirty="0" err="1"/>
              <a:t>ini</a:t>
            </a:r>
            <a:r>
              <a:rPr lang="en-US" sz="900" dirty="0"/>
              <a:t> </a:t>
            </a:r>
            <a:r>
              <a:rPr lang="en-US" sz="900" dirty="0" err="1"/>
              <a:t>dapat</a:t>
            </a:r>
            <a:r>
              <a:rPr lang="en-US" sz="900" dirty="0"/>
              <a:t> </a:t>
            </a:r>
            <a:r>
              <a:rPr lang="en-US" sz="900" dirty="0" err="1"/>
              <a:t>menjadi</a:t>
            </a:r>
            <a:r>
              <a:rPr lang="en-US" sz="900" dirty="0"/>
              <a:t> </a:t>
            </a:r>
            <a:r>
              <a:rPr lang="en-US" sz="900" dirty="0" err="1"/>
              <a:t>indikasi</a:t>
            </a:r>
            <a:r>
              <a:rPr lang="en-US" sz="900" dirty="0"/>
              <a:t> </a:t>
            </a:r>
            <a:r>
              <a:rPr lang="en-US" sz="900" dirty="0" err="1"/>
              <a:t>resiko</a:t>
            </a:r>
            <a:r>
              <a:rPr lang="en-US" sz="900" dirty="0"/>
              <a:t> churn </a:t>
            </a:r>
            <a:r>
              <a:rPr lang="en-US" sz="900" dirty="0" err="1"/>
              <a:t>untuk</a:t>
            </a:r>
            <a:r>
              <a:rPr lang="en-US" sz="900" dirty="0"/>
              <a:t> customer </a:t>
            </a:r>
            <a:r>
              <a:rPr lang="en-US" sz="900" dirty="0" err="1"/>
              <a:t>yg</a:t>
            </a:r>
            <a:r>
              <a:rPr lang="en-US" sz="900" dirty="0"/>
              <a:t> </a:t>
            </a:r>
            <a:r>
              <a:rPr lang="en-US" sz="900" dirty="0" err="1"/>
              <a:t>memberikan</a:t>
            </a:r>
            <a:r>
              <a:rPr lang="en-US" sz="900" dirty="0"/>
              <a:t> rating di </a:t>
            </a:r>
            <a:r>
              <a:rPr lang="en-US" sz="900" dirty="0" err="1"/>
              <a:t>bawah</a:t>
            </a:r>
            <a:r>
              <a:rPr lang="en-US" sz="900" dirty="0"/>
              <a:t> 4.0.</a:t>
            </a:r>
          </a:p>
          <a:p>
            <a:pPr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br>
              <a:rPr lang="en-US" sz="900" dirty="0"/>
            </a:b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0" y="67470"/>
            <a:ext cx="4304880" cy="4759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Driver Ratings Distribution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105135" y="801315"/>
            <a:ext cx="4466865" cy="15227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100" b="1" i="0" dirty="0">
                <a:effectLst/>
              </a:rPr>
              <a:t>Key Findings:</a:t>
            </a:r>
            <a:endParaRPr lang="en-US" sz="1100" b="0" i="0" dirty="0">
              <a:effectLst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 err="1"/>
              <a:t>Mayoritas</a:t>
            </a:r>
            <a:r>
              <a:rPr lang="en-US" sz="900" dirty="0"/>
              <a:t> rating </a:t>
            </a:r>
            <a:r>
              <a:rPr lang="en-US" sz="900" dirty="0" err="1"/>
              <a:t>untuk</a:t>
            </a:r>
            <a:r>
              <a:rPr lang="en-US" sz="900" dirty="0"/>
              <a:t> </a:t>
            </a:r>
            <a:r>
              <a:rPr lang="en-US" sz="900" dirty="0" err="1"/>
              <a:t>pengemudi</a:t>
            </a:r>
            <a:r>
              <a:rPr lang="en-US" sz="900" dirty="0"/>
              <a:t> </a:t>
            </a:r>
            <a:r>
              <a:rPr lang="en-US" sz="900" dirty="0" err="1"/>
              <a:t>berada</a:t>
            </a:r>
            <a:r>
              <a:rPr lang="en-US" sz="900" dirty="0"/>
              <a:t> </a:t>
            </a:r>
            <a:r>
              <a:rPr lang="en-US" sz="900" dirty="0" err="1"/>
              <a:t>dikisaran</a:t>
            </a:r>
            <a:r>
              <a:rPr lang="en-US" sz="900" dirty="0"/>
              <a:t> 4.0-4.9, (</a:t>
            </a:r>
            <a:r>
              <a:rPr lang="en-US" sz="900" dirty="0" err="1"/>
              <a:t>mengindikasikan</a:t>
            </a:r>
            <a:r>
              <a:rPr lang="en-US" sz="900" dirty="0"/>
              <a:t> </a:t>
            </a:r>
            <a:r>
              <a:rPr lang="en-US" sz="900" dirty="0" err="1"/>
              <a:t>sebagian</a:t>
            </a:r>
            <a:r>
              <a:rPr lang="en-US" sz="900" dirty="0"/>
              <a:t> </a:t>
            </a:r>
            <a:r>
              <a:rPr lang="en-US" sz="900" dirty="0" err="1"/>
              <a:t>besar</a:t>
            </a:r>
            <a:r>
              <a:rPr lang="en-US" sz="900" dirty="0"/>
              <a:t> </a:t>
            </a:r>
            <a:r>
              <a:rPr lang="en-US" sz="900" dirty="0" err="1"/>
              <a:t>pengemudi</a:t>
            </a:r>
            <a:r>
              <a:rPr lang="en-US" sz="900" dirty="0"/>
              <a:t> </a:t>
            </a:r>
            <a:r>
              <a:rPr lang="en-US" sz="900" dirty="0" err="1"/>
              <a:t>secara</a:t>
            </a:r>
            <a:r>
              <a:rPr lang="en-US" sz="900" dirty="0"/>
              <a:t> </a:t>
            </a:r>
            <a:r>
              <a:rPr lang="en-US" sz="900" dirty="0" err="1"/>
              <a:t>konsisten</a:t>
            </a:r>
            <a:r>
              <a:rPr lang="en-US" sz="900" dirty="0"/>
              <a:t> </a:t>
            </a:r>
            <a:r>
              <a:rPr lang="en-US" sz="900" dirty="0" err="1"/>
              <a:t>memberikan</a:t>
            </a:r>
            <a:r>
              <a:rPr lang="en-US" sz="900" dirty="0"/>
              <a:t> </a:t>
            </a:r>
            <a:r>
              <a:rPr lang="en-US" sz="900" dirty="0" err="1"/>
              <a:t>layanan</a:t>
            </a:r>
            <a:r>
              <a:rPr lang="en-US" sz="900" dirty="0"/>
              <a:t> yang </a:t>
            </a:r>
            <a:r>
              <a:rPr lang="en-US" sz="900" dirty="0" err="1"/>
              <a:t>memuaskan</a:t>
            </a:r>
            <a:r>
              <a:rPr lang="en-US" sz="900" dirty="0"/>
              <a:t>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Rata-rata rating yang </a:t>
            </a:r>
            <a:r>
              <a:rPr lang="en-US" sz="900" dirty="0" err="1"/>
              <a:t>diberikan</a:t>
            </a:r>
            <a:r>
              <a:rPr lang="en-US" sz="900" dirty="0"/>
              <a:t> customer </a:t>
            </a:r>
            <a:r>
              <a:rPr lang="en-US" sz="900" dirty="0" err="1"/>
              <a:t>berada</a:t>
            </a:r>
            <a:r>
              <a:rPr lang="en-US" sz="900" dirty="0"/>
              <a:t> di range 4.2-4.3, </a:t>
            </a:r>
            <a:r>
              <a:rPr lang="en-US" sz="900" dirty="0" err="1"/>
              <a:t>menjadikan</a:t>
            </a:r>
            <a:r>
              <a:rPr lang="en-US" sz="900" dirty="0"/>
              <a:t> </a:t>
            </a:r>
            <a:r>
              <a:rPr lang="en-US" sz="900" dirty="0" err="1"/>
              <a:t>kisaran</a:t>
            </a:r>
            <a:r>
              <a:rPr lang="en-US" sz="900" dirty="0"/>
              <a:t> rating </a:t>
            </a:r>
            <a:r>
              <a:rPr lang="en-US" sz="900" dirty="0" err="1"/>
              <a:t>tersebut</a:t>
            </a:r>
            <a:r>
              <a:rPr lang="en-US" sz="900" dirty="0"/>
              <a:t> yang paling </a:t>
            </a:r>
            <a:r>
              <a:rPr lang="en-US" sz="900" dirty="0" err="1"/>
              <a:t>umum</a:t>
            </a:r>
            <a:r>
              <a:rPr lang="en-US" sz="900" dirty="0"/>
              <a:t> </a:t>
            </a:r>
            <a:r>
              <a:rPr lang="en-US" sz="900" dirty="0" err="1"/>
              <a:t>diberikan</a:t>
            </a:r>
            <a:r>
              <a:rPr lang="en-US" sz="900" dirty="0"/>
              <a:t> oleh customer.</a:t>
            </a: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endParaRPr lang="en-US" sz="1100" b="0" u="none" strike="noStrike" dirty="0">
              <a:effectLst/>
              <a:uFillTx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02EF33FE-26B0-418C-A73C-A13122904EE3}"/>
              </a:ext>
            </a:extLst>
          </p:cNvPr>
          <p:cNvSpPr txBox="1">
            <a:spLocks/>
          </p:cNvSpPr>
          <p:nvPr/>
        </p:nvSpPr>
        <p:spPr>
          <a:xfrm>
            <a:off x="14467" y="2581921"/>
            <a:ext cx="4557533" cy="16567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100" b="1" dirty="0"/>
              <a:t>Business solution &amp; recommendation:</a:t>
            </a:r>
            <a:endParaRPr lang="en-US" sz="1100" dirty="0"/>
          </a:p>
          <a:p>
            <a:pPr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 err="1"/>
              <a:t>Distribusi</a:t>
            </a:r>
            <a:r>
              <a:rPr lang="en-US" sz="900" dirty="0"/>
              <a:t> rating </a:t>
            </a:r>
            <a:r>
              <a:rPr lang="en-US" sz="900" dirty="0" err="1"/>
              <a:t>diatas</a:t>
            </a:r>
            <a:r>
              <a:rPr lang="en-US" sz="900" dirty="0"/>
              <a:t> 4.0 </a:t>
            </a:r>
            <a:r>
              <a:rPr lang="en-US" sz="900" dirty="0" err="1"/>
              <a:t>merupakan</a:t>
            </a:r>
            <a:r>
              <a:rPr lang="en-US" sz="900" dirty="0"/>
              <a:t> </a:t>
            </a:r>
            <a:r>
              <a:rPr lang="en-US" sz="900" dirty="0" err="1"/>
              <a:t>sinyal</a:t>
            </a:r>
            <a:r>
              <a:rPr lang="en-US" sz="900" dirty="0"/>
              <a:t> </a:t>
            </a:r>
            <a:r>
              <a:rPr lang="en-US" sz="900" dirty="0" err="1"/>
              <a:t>positif</a:t>
            </a:r>
            <a:r>
              <a:rPr lang="en-US" sz="900" dirty="0"/>
              <a:t> </a:t>
            </a:r>
            <a:r>
              <a:rPr lang="en-US" sz="900" dirty="0" err="1"/>
              <a:t>untuk</a:t>
            </a:r>
            <a:r>
              <a:rPr lang="en-US" sz="900" dirty="0"/>
              <a:t> model </a:t>
            </a:r>
            <a:r>
              <a:rPr lang="en-US" sz="900" dirty="0" err="1"/>
              <a:t>bisnis</a:t>
            </a:r>
            <a:r>
              <a:rPr lang="en-US" sz="900" dirty="0"/>
              <a:t> uber </a:t>
            </a:r>
            <a:r>
              <a:rPr lang="en-US" sz="900" dirty="0" err="1"/>
              <a:t>dalam</a:t>
            </a:r>
            <a:r>
              <a:rPr lang="en-US" sz="900" dirty="0"/>
              <a:t> </a:t>
            </a:r>
            <a:r>
              <a:rPr lang="en-US" sz="900" dirty="0" err="1"/>
              <a:t>menjaga</a:t>
            </a:r>
            <a:r>
              <a:rPr lang="en-US" sz="900" dirty="0"/>
              <a:t> </a:t>
            </a:r>
            <a:r>
              <a:rPr lang="en-US" sz="900" dirty="0" err="1"/>
              <a:t>kualitas</a:t>
            </a:r>
            <a:r>
              <a:rPr lang="en-US" sz="900" dirty="0"/>
              <a:t> </a:t>
            </a:r>
            <a:r>
              <a:rPr lang="en-US" sz="900" dirty="0" err="1"/>
              <a:t>layanan</a:t>
            </a:r>
            <a:r>
              <a:rPr lang="en-US" sz="900" dirty="0"/>
              <a:t>.</a:t>
            </a:r>
          </a:p>
          <a:p>
            <a:pPr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 err="1"/>
              <a:t>Sebaran</a:t>
            </a:r>
            <a:r>
              <a:rPr lang="en-US" sz="900" dirty="0"/>
              <a:t> rating </a:t>
            </a:r>
            <a:r>
              <a:rPr lang="en-US" sz="900" dirty="0" err="1"/>
              <a:t>dibawah</a:t>
            </a:r>
            <a:r>
              <a:rPr lang="en-US" sz="900" dirty="0"/>
              <a:t> 4.0 </a:t>
            </a:r>
            <a:r>
              <a:rPr lang="en-US" sz="900" dirty="0" err="1"/>
              <a:t>dapat</a:t>
            </a:r>
            <a:r>
              <a:rPr lang="en-US" sz="900" dirty="0"/>
              <a:t> </a:t>
            </a:r>
            <a:r>
              <a:rPr lang="en-US" sz="900" dirty="0" err="1"/>
              <a:t>menjadi</a:t>
            </a:r>
            <a:r>
              <a:rPr lang="en-US" sz="900" dirty="0"/>
              <a:t> </a:t>
            </a:r>
            <a:r>
              <a:rPr lang="en-US" sz="900" dirty="0" err="1"/>
              <a:t>indikator</a:t>
            </a:r>
            <a:r>
              <a:rPr lang="en-US" sz="900" dirty="0"/>
              <a:t> </a:t>
            </a:r>
            <a:r>
              <a:rPr lang="en-US" sz="900" dirty="0" err="1"/>
              <a:t>untuk</a:t>
            </a:r>
            <a:r>
              <a:rPr lang="en-US" sz="900" dirty="0"/>
              <a:t> driver yang </a:t>
            </a:r>
            <a:r>
              <a:rPr lang="en-US" sz="900" dirty="0" err="1"/>
              <a:t>berisiko</a:t>
            </a:r>
            <a:r>
              <a:rPr lang="en-US" sz="900" dirty="0"/>
              <a:t>, pada </a:t>
            </a:r>
            <a:r>
              <a:rPr lang="en-US" sz="900" dirty="0" err="1"/>
              <a:t>kategori</a:t>
            </a:r>
            <a:r>
              <a:rPr lang="en-US" sz="900" dirty="0"/>
              <a:t> </a:t>
            </a:r>
            <a:r>
              <a:rPr lang="en-US" sz="900" dirty="0" err="1"/>
              <a:t>ini</a:t>
            </a:r>
            <a:r>
              <a:rPr lang="en-US" sz="900" dirty="0"/>
              <a:t> uber </a:t>
            </a:r>
            <a:r>
              <a:rPr lang="en-US" sz="900" dirty="0" err="1"/>
              <a:t>dapat</a:t>
            </a:r>
            <a:r>
              <a:rPr lang="en-US" sz="900" dirty="0"/>
              <a:t> </a:t>
            </a:r>
            <a:r>
              <a:rPr lang="en-US" sz="900" dirty="0" err="1"/>
              <a:t>mengidentifikasi</a:t>
            </a:r>
            <a:r>
              <a:rPr lang="en-US" sz="900" dirty="0"/>
              <a:t> </a:t>
            </a:r>
            <a:r>
              <a:rPr lang="en-US" sz="900" dirty="0" err="1"/>
              <a:t>masalah</a:t>
            </a:r>
            <a:r>
              <a:rPr lang="en-US" sz="900" dirty="0"/>
              <a:t> </a:t>
            </a:r>
            <a:r>
              <a:rPr lang="en-US" sz="900" dirty="0" err="1"/>
              <a:t>seperti</a:t>
            </a:r>
            <a:r>
              <a:rPr lang="en-US" sz="900" dirty="0"/>
              <a:t> </a:t>
            </a:r>
            <a:r>
              <a:rPr lang="en-US" sz="900" dirty="0" err="1"/>
              <a:t>perilaku</a:t>
            </a:r>
            <a:r>
              <a:rPr lang="en-US" sz="900" dirty="0"/>
              <a:t> driver, </a:t>
            </a:r>
            <a:r>
              <a:rPr lang="en-US" sz="900" dirty="0" err="1"/>
              <a:t>kondisi</a:t>
            </a:r>
            <a:r>
              <a:rPr lang="en-US" sz="900" dirty="0"/>
              <a:t> </a:t>
            </a:r>
            <a:r>
              <a:rPr lang="en-US" sz="900" dirty="0" err="1"/>
              <a:t>kendaraan</a:t>
            </a:r>
            <a:r>
              <a:rPr lang="en-US" sz="900" dirty="0"/>
              <a:t>, </a:t>
            </a:r>
            <a:r>
              <a:rPr lang="en-US" sz="900" dirty="0" err="1"/>
              <a:t>atau</a:t>
            </a:r>
            <a:r>
              <a:rPr lang="en-US" sz="900" dirty="0"/>
              <a:t> </a:t>
            </a:r>
            <a:r>
              <a:rPr lang="en-US" sz="900" dirty="0" err="1"/>
              <a:t>efesiensi</a:t>
            </a:r>
            <a:r>
              <a:rPr lang="en-US" sz="900" dirty="0"/>
              <a:t> </a:t>
            </a:r>
            <a:r>
              <a:rPr lang="en-US" sz="900" dirty="0" err="1"/>
              <a:t>rute</a:t>
            </a:r>
            <a:r>
              <a:rPr lang="en-US" sz="900" dirty="0"/>
              <a:t> </a:t>
            </a:r>
            <a:r>
              <a:rPr lang="en-US" sz="900" dirty="0" err="1"/>
              <a:t>yng</a:t>
            </a:r>
            <a:r>
              <a:rPr lang="en-US" sz="900" dirty="0"/>
              <a:t> </a:t>
            </a:r>
            <a:r>
              <a:rPr lang="en-US" sz="900" dirty="0" err="1"/>
              <a:t>dapat</a:t>
            </a:r>
            <a:r>
              <a:rPr lang="en-US" sz="900" dirty="0"/>
              <a:t> </a:t>
            </a:r>
            <a:r>
              <a:rPr lang="en-US" sz="900" dirty="0" err="1"/>
              <a:t>mencegah</a:t>
            </a:r>
            <a:r>
              <a:rPr lang="en-US" sz="900" dirty="0"/>
              <a:t> driver </a:t>
            </a:r>
            <a:r>
              <a:rPr lang="en-US" sz="900" dirty="0" err="1"/>
              <a:t>keluar</a:t>
            </a:r>
            <a:r>
              <a:rPr lang="en-US" sz="900" dirty="0"/>
              <a:t> </a:t>
            </a:r>
            <a:r>
              <a:rPr lang="en-US" sz="900" dirty="0" err="1"/>
              <a:t>dari</a:t>
            </a:r>
            <a:r>
              <a:rPr lang="en-US" sz="900" dirty="0"/>
              <a:t> platform (driver churn), yang </a:t>
            </a:r>
            <a:r>
              <a:rPr lang="en-US" sz="900" dirty="0" err="1"/>
              <a:t>dapat</a:t>
            </a:r>
            <a:r>
              <a:rPr lang="en-US" sz="900" dirty="0"/>
              <a:t> </a:t>
            </a:r>
            <a:r>
              <a:rPr lang="en-US" sz="900" dirty="0" err="1"/>
              <a:t>berdampak</a:t>
            </a:r>
            <a:r>
              <a:rPr lang="en-US" sz="900" dirty="0"/>
              <a:t> </a:t>
            </a:r>
            <a:r>
              <a:rPr lang="en-US" sz="900" dirty="0" err="1"/>
              <a:t>buruk</a:t>
            </a:r>
            <a:r>
              <a:rPr lang="en-US" sz="900" dirty="0"/>
              <a:t> </a:t>
            </a:r>
            <a:r>
              <a:rPr lang="en-US" sz="900" dirty="0" err="1"/>
              <a:t>untuk</a:t>
            </a:r>
            <a:r>
              <a:rPr lang="en-US" sz="900" dirty="0"/>
              <a:t> </a:t>
            </a:r>
            <a:r>
              <a:rPr lang="en-US" sz="900" dirty="0" err="1"/>
              <a:t>pengalaman</a:t>
            </a:r>
            <a:r>
              <a:rPr lang="en-US" sz="900" dirty="0"/>
              <a:t> </a:t>
            </a:r>
            <a:r>
              <a:rPr lang="en-US" sz="900" dirty="0" err="1"/>
              <a:t>pelanggan</a:t>
            </a:r>
            <a:r>
              <a:rPr lang="en-US" sz="900" dirty="0"/>
              <a:t>.</a:t>
            </a:r>
            <a:br>
              <a:rPr lang="en-US" sz="900" dirty="0"/>
            </a:b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C1F962-FEF9-4217-99FF-DD4DD145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595" y="1285875"/>
            <a:ext cx="431827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39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Customer Value Segments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2962470" y="799920"/>
            <a:ext cx="4323960" cy="128613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Insight: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High-Value segment (25%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dari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customer)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menghasilkan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50,9% revenue ($26,3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juta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)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dari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25.284 customers. </a:t>
            </a: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Mid-value segment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(50%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dari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customer)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berkontribusi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42,1% ($21,8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juta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)  </a:t>
            </a: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Low-values segment (25%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dari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customer)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hanya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7,1% ($3,6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juta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). </a:t>
            </a:r>
          </a:p>
        </p:txBody>
      </p:sp>
      <p:sp>
        <p:nvSpPr>
          <p:cNvPr id="105" name="Google Shape;224;p32" title="scenes-people-work.jpg"/>
          <p:cNvSpPr/>
          <p:nvPr/>
        </p:nvSpPr>
        <p:spPr>
          <a:xfrm>
            <a:off x="7362824" y="228600"/>
            <a:ext cx="1552215" cy="155232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19050">
            <a:solidFill>
              <a:srgbClr val="FEA86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A17091-E3E4-499C-8B2A-28656AE63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2215087"/>
            <a:ext cx="4019550" cy="2751826"/>
          </a:xfrm>
          <a:prstGeom prst="rect">
            <a:avLst/>
          </a:prstGeom>
        </p:spPr>
      </p:pic>
      <p:sp>
        <p:nvSpPr>
          <p:cNvPr id="7" name="PlaceHolder 2">
            <a:extLst>
              <a:ext uri="{FF2B5EF4-FFF2-40B4-BE49-F238E27FC236}">
                <a16:creationId xmlns:a16="http://schemas.microsoft.com/office/drawing/2014/main" id="{7710C7F4-B9C2-42B7-B58E-543741796C56}"/>
              </a:ext>
            </a:extLst>
          </p:cNvPr>
          <p:cNvSpPr txBox="1">
            <a:spLocks/>
          </p:cNvSpPr>
          <p:nvPr/>
        </p:nvSpPr>
        <p:spPr>
          <a:xfrm>
            <a:off x="0" y="2215087"/>
            <a:ext cx="5057775" cy="275182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100" b="1" i="0" dirty="0">
                <a:effectLst/>
              </a:rPr>
              <a:t> Business Insight &amp; Recommendation:</a:t>
            </a:r>
            <a:endParaRPr lang="en-US" sz="1100" b="0" i="0" dirty="0">
              <a:effectLst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 err="1">
                <a:effectLst/>
              </a:rPr>
              <a:t>Tawarkan</a:t>
            </a:r>
            <a:r>
              <a:rPr lang="en-US" sz="1100" b="0" i="0" dirty="0">
                <a:effectLst/>
              </a:rPr>
              <a:t> program customer premium </a:t>
            </a:r>
            <a:r>
              <a:rPr lang="en-US" sz="1100" b="0" i="0" dirty="0" err="1">
                <a:effectLst/>
              </a:rPr>
              <a:t>untuk</a:t>
            </a:r>
            <a:r>
              <a:rPr lang="en-US" sz="1100" b="0" i="0" dirty="0">
                <a:effectLst/>
              </a:rPr>
              <a:t> 25.284 (50.9% revenue) customer VIP, </a:t>
            </a:r>
            <a:r>
              <a:rPr lang="en-US" sz="1100" b="0" i="0" dirty="0" err="1">
                <a:effectLst/>
              </a:rPr>
              <a:t>karena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kehilangan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satu</a:t>
            </a:r>
            <a:r>
              <a:rPr lang="en-US" sz="1100" b="0" i="0" dirty="0">
                <a:effectLst/>
              </a:rPr>
              <a:t> customer di </a:t>
            </a:r>
            <a:r>
              <a:rPr lang="en-US" sz="1100" b="0" i="0" dirty="0" err="1">
                <a:effectLst/>
              </a:rPr>
              <a:t>segmen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ini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dapat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berdapampak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signifikan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terhadap</a:t>
            </a:r>
            <a:r>
              <a:rPr lang="en-US" sz="1100" b="0" i="0" dirty="0">
                <a:effectLst/>
              </a:rPr>
              <a:t> revenue.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</a:rPr>
              <a:t>create </a:t>
            </a:r>
            <a:r>
              <a:rPr lang="en-US" sz="1100" b="0" i="0" dirty="0" err="1">
                <a:effectLst/>
              </a:rPr>
              <a:t>jalur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untuk</a:t>
            </a:r>
            <a:r>
              <a:rPr lang="en-US" sz="1100" b="0" i="0" dirty="0">
                <a:effectLst/>
              </a:rPr>
              <a:t> upgrade </a:t>
            </a:r>
            <a:r>
              <a:rPr lang="en-US" sz="1100" b="0" i="0" dirty="0" err="1">
                <a:effectLst/>
              </a:rPr>
              <a:t>melalui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promosi</a:t>
            </a:r>
            <a:r>
              <a:rPr lang="en-US" sz="1100" b="0" i="0" dirty="0">
                <a:effectLst/>
              </a:rPr>
              <a:t> yang di </a:t>
            </a:r>
            <a:r>
              <a:rPr lang="en-US" sz="1100" b="0" i="0" dirty="0" err="1">
                <a:effectLst/>
              </a:rPr>
              <a:t>perbaharui,dengan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potensi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pendapatan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sebesar</a:t>
            </a:r>
            <a:r>
              <a:rPr lang="en-US" sz="1100" b="0" i="0" dirty="0">
                <a:effectLst/>
              </a:rPr>
              <a:t> $21.8M-$26.3M.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 err="1">
                <a:effectLst/>
              </a:rPr>
              <a:t>Rencanakan</a:t>
            </a:r>
            <a:r>
              <a:rPr lang="en-US" sz="1100" b="0" i="0" dirty="0">
                <a:effectLst/>
              </a:rPr>
              <a:t> dan </a:t>
            </a:r>
            <a:r>
              <a:rPr lang="en-US" sz="1100" b="0" i="0" dirty="0" err="1">
                <a:effectLst/>
              </a:rPr>
              <a:t>rancang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kampanye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dengan</a:t>
            </a:r>
            <a:r>
              <a:rPr lang="en-US" sz="1100" b="0" i="0" dirty="0">
                <a:effectLst/>
              </a:rPr>
              <a:t> re-</a:t>
            </a:r>
            <a:r>
              <a:rPr lang="en-US" sz="1100" b="0" i="0" dirty="0" err="1">
                <a:effectLst/>
              </a:rPr>
              <a:t>engangement</a:t>
            </a:r>
            <a:r>
              <a:rPr lang="en-US" sz="1100" b="0" i="0" dirty="0">
                <a:effectLst/>
              </a:rPr>
              <a:t> dan </a:t>
            </a:r>
            <a:r>
              <a:rPr lang="en-US" sz="1100" b="0" i="0" dirty="0" err="1">
                <a:effectLst/>
              </a:rPr>
              <a:t>promosi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sensitif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harga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untuk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meningkatkan</a:t>
            </a:r>
            <a:r>
              <a:rPr lang="en-US" sz="1100" b="0" i="0" dirty="0">
                <a:effectLst/>
              </a:rPr>
              <a:t> frequency order </a:t>
            </a:r>
            <a:r>
              <a:rPr lang="en-US" sz="1100" b="0" i="0" dirty="0" err="1">
                <a:effectLst/>
              </a:rPr>
              <a:t>atau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pesanan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dengan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tujuan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untuk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mendorong</a:t>
            </a:r>
            <a:r>
              <a:rPr lang="en-US" sz="1100" b="0" i="0" dirty="0">
                <a:effectLst/>
              </a:rPr>
              <a:t> customer naik </a:t>
            </a:r>
            <a:r>
              <a:rPr lang="en-US" sz="1100" b="0" i="0" dirty="0" err="1">
                <a:effectLst/>
              </a:rPr>
              <a:t>ke</a:t>
            </a:r>
            <a:r>
              <a:rPr lang="en-US" sz="1100" b="0" i="0" dirty="0">
                <a:effectLst/>
              </a:rPr>
              <a:t> segment mid-value.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48180"/>
            <a:ext cx="4304880" cy="49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Cohort  Analysis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0" y="676274"/>
            <a:ext cx="4086225" cy="142875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20000"/>
          </a:bodyPr>
          <a:lstStyle/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Insight 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</a:rPr>
              <a:t>Dari </a:t>
            </a:r>
            <a:r>
              <a:rPr lang="en-US" sz="1100" b="0" i="0" dirty="0" err="1">
                <a:effectLst/>
              </a:rPr>
              <a:t>awal</a:t>
            </a:r>
            <a:r>
              <a:rPr lang="en-US" sz="1100" b="0" i="0" dirty="0">
                <a:effectLst/>
              </a:rPr>
              <a:t> 2024 </a:t>
            </a:r>
            <a:r>
              <a:rPr lang="en-US" sz="1100" b="0" i="0" dirty="0" err="1">
                <a:effectLst/>
              </a:rPr>
              <a:t>sampai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akhir</a:t>
            </a:r>
            <a:r>
              <a:rPr lang="en-US" sz="1100" b="0" i="0" dirty="0">
                <a:effectLst/>
              </a:rPr>
              <a:t> 2024 </a:t>
            </a:r>
            <a:r>
              <a:rPr lang="en-US" sz="1100" b="0" i="0" dirty="0" err="1">
                <a:effectLst/>
              </a:rPr>
              <a:t>grafik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tidak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memperlihatkan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tren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meningkat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atau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menurun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secara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signifikan</a:t>
            </a:r>
            <a:r>
              <a:rPr lang="en-US" sz="1100" b="0" i="0" dirty="0">
                <a:effectLst/>
              </a:rPr>
              <a:t>, </a:t>
            </a:r>
            <a:r>
              <a:rPr lang="en-US" sz="1100" b="0" i="0" dirty="0" err="1">
                <a:effectLst/>
              </a:rPr>
              <a:t>melainkan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cenderung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stabil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dengan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variasi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periodik</a:t>
            </a:r>
            <a:r>
              <a:rPr lang="en-US" sz="1100" b="0" i="0" dirty="0">
                <a:effectLst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</a:rPr>
              <a:t>rata-rata revenue </a:t>
            </a:r>
            <a:r>
              <a:rPr lang="en-US" sz="1100" b="0" i="0" dirty="0" err="1">
                <a:effectLst/>
              </a:rPr>
              <a:t>percustomer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cenderung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berada</a:t>
            </a:r>
            <a:r>
              <a:rPr lang="en-US" sz="1100" b="0" i="0" dirty="0">
                <a:effectLst/>
              </a:rPr>
              <a:t> di </a:t>
            </a:r>
            <a:r>
              <a:rPr lang="en-US" sz="1100" b="0" i="0" dirty="0" err="1">
                <a:effectLst/>
              </a:rPr>
              <a:t>kisaran</a:t>
            </a:r>
            <a:r>
              <a:rPr lang="en-US" sz="1100" b="0" i="0" dirty="0">
                <a:effectLst/>
              </a:rPr>
              <a:t> 280-450 </a:t>
            </a:r>
            <a:r>
              <a:rPr lang="en-US" sz="1100" b="0" i="0" dirty="0" err="1">
                <a:effectLst/>
              </a:rPr>
              <a:t>dengan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beberapa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lonjakan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hingga</a:t>
            </a:r>
            <a:r>
              <a:rPr lang="en-US" sz="1100" b="0" i="0" dirty="0">
                <a:effectLst/>
              </a:rPr>
              <a:t> &gt; 500. </a:t>
            </a:r>
            <a:r>
              <a:rPr lang="en-US" sz="1100" b="0" i="0" dirty="0" err="1">
                <a:effectLst/>
              </a:rPr>
              <a:t>Ini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berarti</a:t>
            </a:r>
            <a:r>
              <a:rPr lang="en-US" sz="1100" b="0" i="0" dirty="0">
                <a:effectLst/>
              </a:rPr>
              <a:t> revenue </a:t>
            </a:r>
            <a:r>
              <a:rPr lang="en-US" sz="1100" b="0" i="0" dirty="0" err="1">
                <a:effectLst/>
              </a:rPr>
              <a:t>dari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setiap</a:t>
            </a:r>
            <a:r>
              <a:rPr lang="en-US" sz="1100" b="0" i="0" dirty="0">
                <a:effectLst/>
              </a:rPr>
              <a:t> customer </a:t>
            </a:r>
            <a:r>
              <a:rPr lang="en-US" sz="1100" b="0" i="0" dirty="0" err="1">
                <a:effectLst/>
              </a:rPr>
              <a:t>relatif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konsisten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sepanjang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tahun</a:t>
            </a:r>
            <a:r>
              <a:rPr lang="en-US" sz="1100" b="0" i="0" dirty="0">
                <a:effectLst/>
              </a:rPr>
              <a:t> 2024.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E36FDC-DE49-4E0D-AE28-3288B82C58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880" y="895350"/>
            <a:ext cx="4588964" cy="2837925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277A80F1-6836-4EDB-8E22-23C20FB674E6}"/>
              </a:ext>
            </a:extLst>
          </p:cNvPr>
          <p:cNvSpPr txBox="1">
            <a:spLocks/>
          </p:cNvSpPr>
          <p:nvPr/>
        </p:nvSpPr>
        <p:spPr>
          <a:xfrm>
            <a:off x="-1" y="2237879"/>
            <a:ext cx="4086225" cy="240079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200" b="1" i="0" dirty="0">
                <a:effectLst/>
              </a:rPr>
              <a:t> Business Insight &amp; Recommendation:</a:t>
            </a:r>
            <a:endParaRPr lang="en-US" sz="1200" b="0" i="0" dirty="0">
              <a:effectLst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</a:rPr>
              <a:t>Karena revenue per-customer </a:t>
            </a:r>
            <a:r>
              <a:rPr lang="en-US" sz="1100" b="0" i="0" dirty="0" err="1">
                <a:effectLst/>
              </a:rPr>
              <a:t>relatif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stabi</a:t>
            </a:r>
            <a:r>
              <a:rPr lang="en-US" sz="1100" b="0" i="0" dirty="0">
                <a:effectLst/>
              </a:rPr>
              <a:t>, strategi </a:t>
            </a:r>
            <a:r>
              <a:rPr lang="en-US" sz="1100" b="0" i="0" dirty="0" err="1">
                <a:effectLst/>
              </a:rPr>
              <a:t>untuk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meningkatkan</a:t>
            </a:r>
            <a:r>
              <a:rPr lang="en-US" sz="1100" b="0" i="0" dirty="0">
                <a:effectLst/>
              </a:rPr>
              <a:t> repeat order </a:t>
            </a:r>
            <a:r>
              <a:rPr lang="en-US" sz="1100" b="0" i="0" dirty="0" err="1">
                <a:effectLst/>
              </a:rPr>
              <a:t>bisa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lebih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efektif</a:t>
            </a:r>
            <a:r>
              <a:rPr lang="en-US" sz="1100" b="0" i="0" dirty="0">
                <a:effectLst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</a:rPr>
              <a:t>Revenue rata-rata customer </a:t>
            </a:r>
            <a:r>
              <a:rPr lang="en-US" sz="1100" b="0" i="0" dirty="0" err="1">
                <a:effectLst/>
              </a:rPr>
              <a:t>cukup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stabil</a:t>
            </a:r>
            <a:r>
              <a:rPr lang="en-US" sz="1100" b="0" i="0" dirty="0">
                <a:effectLst/>
              </a:rPr>
              <a:t> -&gt; </a:t>
            </a:r>
            <a:r>
              <a:rPr lang="en-US" sz="1100" b="0" i="0" dirty="0" err="1">
                <a:effectLst/>
              </a:rPr>
              <a:t>artinya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peluang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meningkatkan</a:t>
            </a:r>
            <a:r>
              <a:rPr lang="en-US" sz="1100" b="0" i="0" dirty="0">
                <a:effectLst/>
              </a:rPr>
              <a:t> basket size (</a:t>
            </a:r>
            <a:r>
              <a:rPr lang="en-US" sz="1100" b="0" i="0" dirty="0" err="1">
                <a:effectLst/>
              </a:rPr>
              <a:t>nilai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transaksi</a:t>
            </a:r>
            <a:r>
              <a:rPr lang="en-US" sz="1100" b="0" i="0" dirty="0">
                <a:effectLst/>
              </a:rPr>
              <a:t> per order) </a:t>
            </a:r>
            <a:r>
              <a:rPr lang="en-US" sz="1100" b="0" i="0" dirty="0" err="1">
                <a:effectLst/>
              </a:rPr>
              <a:t>masih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besar</a:t>
            </a:r>
            <a:r>
              <a:rPr lang="en-US" sz="1100" b="0" i="0" dirty="0">
                <a:effectLst/>
              </a:rPr>
              <a:t> (</a:t>
            </a:r>
            <a:r>
              <a:rPr lang="en-US" sz="1100" b="0" i="0" dirty="0" err="1">
                <a:effectLst/>
              </a:rPr>
              <a:t>rekomendasi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layanan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pelanggan</a:t>
            </a:r>
            <a:r>
              <a:rPr lang="en-US" sz="1100" b="0" i="0" dirty="0">
                <a:effectLst/>
              </a:rPr>
              <a:t>, promo </a:t>
            </a:r>
            <a:r>
              <a:rPr lang="en-US" sz="1100" b="0" i="0" dirty="0" err="1">
                <a:effectLst/>
              </a:rPr>
              <a:t>diskon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harga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jalan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atau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penawaran</a:t>
            </a:r>
            <a:r>
              <a:rPr lang="en-US" sz="1100" b="0" i="0" dirty="0">
                <a:effectLst/>
              </a:rPr>
              <a:t> </a:t>
            </a:r>
            <a:r>
              <a:rPr lang="en-US" sz="1100" b="0" i="0" dirty="0" err="1">
                <a:effectLst/>
              </a:rPr>
              <a:t>personalisasi</a:t>
            </a:r>
            <a:r>
              <a:rPr lang="en-US" sz="1100" b="0" i="0" dirty="0">
                <a:effectLst/>
              </a:rPr>
              <a:t> customer).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69FC52-18ED-40BF-9E5A-EB30981E0411}"/>
              </a:ext>
            </a:extLst>
          </p:cNvPr>
          <p:cNvCxnSpPr>
            <a:cxnSpLocks/>
          </p:cNvCxnSpPr>
          <p:nvPr/>
        </p:nvCxnSpPr>
        <p:spPr>
          <a:xfrm flipV="1">
            <a:off x="4800600" y="1162050"/>
            <a:ext cx="3105150" cy="17240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F8D3C-5F4F-45F3-AA6D-5436801CFD5A}"/>
              </a:ext>
            </a:extLst>
          </p:cNvPr>
          <p:cNvCxnSpPr>
            <a:cxnSpLocks/>
          </p:cNvCxnSpPr>
          <p:nvPr/>
        </p:nvCxnSpPr>
        <p:spPr>
          <a:xfrm>
            <a:off x="7905750" y="1162050"/>
            <a:ext cx="762000" cy="1047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48180"/>
            <a:ext cx="6343650" cy="49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Customer </a:t>
            </a:r>
            <a:r>
              <a:rPr lang="fr-FR" sz="2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Retention</a:t>
            </a:r>
            <a:r>
              <a:rPr lang="fr-FR" sz="2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fr-FR" sz="2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analysis</a:t>
            </a:r>
            <a:r>
              <a:rPr lang="fr-FR" sz="2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for 2024 </a:t>
            </a:r>
            <a:r>
              <a:rPr lang="fr-FR" sz="2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cohort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0" y="676274"/>
            <a:ext cx="4086225" cy="18954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Insight :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Distribusi</a:t>
            </a:r>
            <a:r>
              <a:rPr lang="en-US" sz="1400" dirty="0"/>
              <a:t> Status Customer: Basis customers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kelompok</a:t>
            </a:r>
            <a:r>
              <a:rPr lang="en-US" sz="1400" dirty="0"/>
              <a:t> 2024 </a:t>
            </a:r>
            <a:r>
              <a:rPr lang="en-US" sz="1400" dirty="0" err="1"/>
              <a:t>terbagi</a:t>
            </a:r>
            <a:r>
              <a:rPr lang="en-US" sz="1400" dirty="0"/>
              <a:t> </a:t>
            </a:r>
            <a:r>
              <a:rPr lang="en-US" sz="1400" dirty="0" err="1"/>
              <a:t>hampir</a:t>
            </a:r>
            <a:r>
              <a:rPr lang="en-US" sz="1400" dirty="0"/>
              <a:t> </a:t>
            </a:r>
            <a:r>
              <a:rPr lang="en-US" sz="1400" dirty="0" err="1"/>
              <a:t>merata</a:t>
            </a:r>
            <a:r>
              <a:rPr lang="en-US" sz="1400" dirty="0"/>
              <a:t> </a:t>
            </a:r>
            <a:r>
              <a:rPr lang="en-US" sz="1400" dirty="0" err="1"/>
              <a:t>antara</a:t>
            </a:r>
            <a:r>
              <a:rPr lang="en-US" sz="1400" dirty="0"/>
              <a:t> customer </a:t>
            </a:r>
            <a:r>
              <a:rPr lang="en-US" sz="1400" dirty="0" err="1"/>
              <a:t>Aktif</a:t>
            </a:r>
            <a:r>
              <a:rPr lang="en-US" sz="1400" dirty="0"/>
              <a:t> dan customer yang </a:t>
            </a:r>
            <a:r>
              <a:rPr lang="en-US" sz="1400" dirty="0" err="1"/>
              <a:t>Berhenti</a:t>
            </a:r>
            <a:r>
              <a:rPr lang="en-US" sz="1400" dirty="0"/>
              <a:t>, </a:t>
            </a:r>
            <a:r>
              <a:rPr lang="en-US" sz="1400" dirty="0" err="1"/>
              <a:t>dengan</a:t>
            </a:r>
            <a:r>
              <a:rPr lang="en-US" sz="1400" dirty="0"/>
              <a:t> 50,54% customers </a:t>
            </a:r>
            <a:r>
              <a:rPr lang="en-US" sz="1400" dirty="0" err="1"/>
              <a:t>aktif</a:t>
            </a:r>
            <a:r>
              <a:rPr lang="en-US" sz="1400" dirty="0"/>
              <a:t> dan 49,46% customers yang </a:t>
            </a:r>
            <a:r>
              <a:rPr lang="en-US" sz="1400" dirty="0" err="1"/>
              <a:t>berhenti</a:t>
            </a:r>
            <a:r>
              <a:rPr lang="en-US" sz="1400" dirty="0"/>
              <a:t>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Tingkat Churn yang Tinggi: Tingkat churn </a:t>
            </a:r>
            <a:r>
              <a:rPr lang="en-US" sz="1400" dirty="0" err="1"/>
              <a:t>mencapai</a:t>
            </a:r>
            <a:r>
              <a:rPr lang="en-US" sz="1400" dirty="0"/>
              <a:t> </a:t>
            </a:r>
            <a:r>
              <a:rPr lang="en-US" sz="1400" dirty="0" err="1"/>
              <a:t>hampir</a:t>
            </a:r>
            <a:r>
              <a:rPr lang="en-US" sz="1400" dirty="0"/>
              <a:t> 50%. Hal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hampir</a:t>
            </a:r>
            <a:r>
              <a:rPr lang="en-US" sz="1400" dirty="0"/>
              <a:t> </a:t>
            </a:r>
            <a:r>
              <a:rPr lang="en-US" sz="1400" dirty="0" err="1"/>
              <a:t>setengah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customers yang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pemesanan</a:t>
            </a:r>
            <a:r>
              <a:rPr lang="en-US" sz="1400" dirty="0"/>
              <a:t> </a:t>
            </a:r>
            <a:r>
              <a:rPr lang="en-US" sz="1400" dirty="0" err="1"/>
              <a:t>pertama</a:t>
            </a:r>
            <a:r>
              <a:rPr lang="en-US" sz="1400" dirty="0"/>
              <a:t> </a:t>
            </a:r>
            <a:r>
              <a:rPr lang="en-US" sz="1400" dirty="0" err="1"/>
              <a:t>mereka</a:t>
            </a:r>
            <a:r>
              <a:rPr lang="en-US" sz="1400" dirty="0"/>
              <a:t> pada </a:t>
            </a:r>
            <a:r>
              <a:rPr lang="en-US" sz="1400" dirty="0" err="1"/>
              <a:t>tahun</a:t>
            </a:r>
            <a:r>
              <a:rPr lang="en-US" sz="1400" dirty="0"/>
              <a:t> 2024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pemesanan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enam</a:t>
            </a:r>
            <a:r>
              <a:rPr lang="en-US" sz="1400" dirty="0"/>
              <a:t> </a:t>
            </a:r>
            <a:r>
              <a:rPr lang="en-US" sz="1400" dirty="0" err="1"/>
              <a:t>bulan</a:t>
            </a:r>
            <a:r>
              <a:rPr lang="en-US" sz="1400" dirty="0"/>
              <a:t> </a:t>
            </a:r>
            <a:r>
              <a:rPr lang="en-US" sz="1400" dirty="0" err="1"/>
              <a:t>menjelang</a:t>
            </a:r>
            <a:r>
              <a:rPr lang="en-US" sz="1400" dirty="0"/>
              <a:t> </a:t>
            </a:r>
            <a:r>
              <a:rPr lang="en-US" sz="1400" dirty="0" err="1"/>
              <a:t>akhir</a:t>
            </a:r>
            <a:r>
              <a:rPr lang="en-US" sz="1400" dirty="0"/>
              <a:t> </a:t>
            </a:r>
            <a:r>
              <a:rPr lang="en-US" sz="1400" dirty="0" err="1"/>
              <a:t>tahun</a:t>
            </a:r>
            <a:r>
              <a:rPr lang="en-US" sz="1400" dirty="0"/>
              <a:t>.</a:t>
            </a: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277A80F1-6836-4EDB-8E22-23C20FB674E6}"/>
              </a:ext>
            </a:extLst>
          </p:cNvPr>
          <p:cNvSpPr txBox="1">
            <a:spLocks/>
          </p:cNvSpPr>
          <p:nvPr/>
        </p:nvSpPr>
        <p:spPr>
          <a:xfrm>
            <a:off x="0" y="2571750"/>
            <a:ext cx="4572001" cy="235317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200" b="1" dirty="0"/>
              <a:t>  Business Insight &amp; Recommendation: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 </a:t>
            </a:r>
            <a:r>
              <a:rPr lang="en-US" sz="1100" dirty="0" err="1"/>
              <a:t>Fokus</a:t>
            </a:r>
            <a:r>
              <a:rPr lang="en-US" sz="1100" dirty="0"/>
              <a:t> </a:t>
            </a:r>
            <a:r>
              <a:rPr lang="en-US" sz="1100" dirty="0" err="1"/>
              <a:t>utama</a:t>
            </a:r>
            <a:r>
              <a:rPr lang="en-US" sz="1100" dirty="0"/>
              <a:t> </a:t>
            </a:r>
            <a:r>
              <a:rPr lang="en-US" sz="1100" dirty="0" err="1"/>
              <a:t>perlu</a:t>
            </a:r>
            <a:r>
              <a:rPr lang="en-US" sz="1100" dirty="0"/>
              <a:t> </a:t>
            </a:r>
            <a:r>
              <a:rPr lang="en-US" sz="1100" dirty="0" err="1"/>
              <a:t>diarahkan</a:t>
            </a:r>
            <a:r>
              <a:rPr lang="en-US" sz="1100" dirty="0"/>
              <a:t> pada customer retention, </a:t>
            </a:r>
            <a:r>
              <a:rPr lang="en-US" sz="1100" dirty="0" err="1"/>
              <a:t>karena</a:t>
            </a:r>
            <a:r>
              <a:rPr lang="en-US" sz="1100" dirty="0"/>
              <a:t> </a:t>
            </a:r>
            <a:r>
              <a:rPr lang="en-US" sz="1100" dirty="0" err="1"/>
              <a:t>menjaga</a:t>
            </a:r>
            <a:r>
              <a:rPr lang="en-US" sz="1100" dirty="0"/>
              <a:t> customer lama </a:t>
            </a:r>
            <a:r>
              <a:rPr lang="en-US" sz="1100" dirty="0" err="1"/>
              <a:t>lebih</a:t>
            </a:r>
            <a:r>
              <a:rPr lang="en-US" sz="1100" dirty="0"/>
              <a:t> </a:t>
            </a:r>
            <a:r>
              <a:rPr lang="en-US" sz="1100" dirty="0" err="1"/>
              <a:t>hemat</a:t>
            </a:r>
            <a:r>
              <a:rPr lang="en-US" sz="1100" dirty="0"/>
              <a:t> </a:t>
            </a:r>
            <a:r>
              <a:rPr lang="en-US" sz="1100" dirty="0" err="1"/>
              <a:t>biaya</a:t>
            </a:r>
            <a:r>
              <a:rPr lang="en-US" sz="1100" dirty="0"/>
              <a:t> </a:t>
            </a:r>
            <a:r>
              <a:rPr lang="en-US" sz="1100" dirty="0" err="1"/>
              <a:t>dibanding</a:t>
            </a:r>
            <a:r>
              <a:rPr lang="en-US" sz="1100" dirty="0"/>
              <a:t> </a:t>
            </a:r>
            <a:r>
              <a:rPr lang="en-US" sz="1100" dirty="0" err="1"/>
              <a:t>akuisisi</a:t>
            </a:r>
            <a:r>
              <a:rPr lang="en-US" sz="1100" dirty="0"/>
              <a:t> </a:t>
            </a:r>
            <a:r>
              <a:rPr lang="en-US" sz="1100" dirty="0" err="1"/>
              <a:t>baru</a:t>
            </a:r>
            <a:r>
              <a:rPr lang="en-US" sz="1100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 </a:t>
            </a:r>
            <a:r>
              <a:rPr lang="en-US" sz="1100" dirty="0" err="1"/>
              <a:t>analisis</a:t>
            </a:r>
            <a:r>
              <a:rPr lang="en-US" sz="1100" dirty="0"/>
              <a:t> </a:t>
            </a:r>
            <a:r>
              <a:rPr lang="en-US" sz="1100" dirty="0" err="1"/>
              <a:t>penyebab</a:t>
            </a:r>
            <a:r>
              <a:rPr lang="en-US" sz="1100" dirty="0"/>
              <a:t> churn (</a:t>
            </a:r>
            <a:r>
              <a:rPr lang="en-US" sz="1100" dirty="0" err="1"/>
              <a:t>misalnya</a:t>
            </a:r>
            <a:r>
              <a:rPr lang="en-US" sz="1100" dirty="0"/>
              <a:t> </a:t>
            </a:r>
            <a:r>
              <a:rPr lang="en-US" sz="1100" dirty="0" err="1"/>
              <a:t>kualitas</a:t>
            </a:r>
            <a:r>
              <a:rPr lang="en-US" sz="1100" dirty="0"/>
              <a:t> </a:t>
            </a:r>
            <a:r>
              <a:rPr lang="en-US" sz="1100" dirty="0" err="1"/>
              <a:t>layanan</a:t>
            </a:r>
            <a:r>
              <a:rPr lang="en-US" sz="1100" dirty="0"/>
              <a:t>, </a:t>
            </a:r>
            <a:r>
              <a:rPr lang="en-US" sz="1100" dirty="0" err="1"/>
              <a:t>harga</a:t>
            </a:r>
            <a:r>
              <a:rPr lang="en-US" sz="1100" dirty="0"/>
              <a:t>, </a:t>
            </a:r>
            <a:r>
              <a:rPr lang="en-US" sz="1100" dirty="0" err="1"/>
              <a:t>kepuasan</a:t>
            </a:r>
            <a:r>
              <a:rPr lang="en-US" sz="1100" dirty="0"/>
              <a:t>, </a:t>
            </a:r>
            <a:r>
              <a:rPr lang="en-US" sz="1100" dirty="0" err="1"/>
              <a:t>atau</a:t>
            </a:r>
            <a:r>
              <a:rPr lang="en-US" sz="1100" dirty="0"/>
              <a:t> </a:t>
            </a:r>
            <a:r>
              <a:rPr lang="en-US" sz="1100" dirty="0" err="1"/>
              <a:t>kompetitor</a:t>
            </a:r>
            <a:r>
              <a:rPr lang="en-US" sz="1100" dirty="0"/>
              <a:t>)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menemukan</a:t>
            </a:r>
            <a:r>
              <a:rPr lang="en-US" sz="1100" dirty="0"/>
              <a:t> </a:t>
            </a:r>
            <a:r>
              <a:rPr lang="en-US" sz="1100" dirty="0" err="1"/>
              <a:t>akar</a:t>
            </a:r>
            <a:r>
              <a:rPr lang="en-US" sz="1100" dirty="0"/>
              <a:t> </a:t>
            </a:r>
            <a:r>
              <a:rPr lang="en-US" sz="1100" dirty="0" err="1"/>
              <a:t>masalah</a:t>
            </a:r>
            <a:r>
              <a:rPr lang="en-US" sz="1100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 </a:t>
            </a:r>
            <a:r>
              <a:rPr lang="en-US" sz="1100" dirty="0" err="1"/>
              <a:t>Terapkan</a:t>
            </a:r>
            <a:r>
              <a:rPr lang="en-US" sz="1100" dirty="0"/>
              <a:t> </a:t>
            </a:r>
            <a:r>
              <a:rPr lang="en-US" sz="1100" dirty="0" err="1"/>
              <a:t>kampanye</a:t>
            </a:r>
            <a:r>
              <a:rPr lang="en-US" sz="1100" dirty="0"/>
              <a:t> </a:t>
            </a:r>
            <a:r>
              <a:rPr lang="en-US" sz="1100" dirty="0" err="1"/>
              <a:t>reaktivasi</a:t>
            </a:r>
            <a:r>
              <a:rPr lang="en-US" sz="1100" dirty="0"/>
              <a:t> </a:t>
            </a:r>
            <a:r>
              <a:rPr lang="en-US" sz="1100" dirty="0" err="1"/>
              <a:t>bagi</a:t>
            </a:r>
            <a:r>
              <a:rPr lang="en-US" sz="1100" dirty="0"/>
              <a:t> </a:t>
            </a:r>
            <a:r>
              <a:rPr lang="en-US" sz="1100" dirty="0" err="1"/>
              <a:t>hampir</a:t>
            </a:r>
            <a:r>
              <a:rPr lang="en-US" sz="1100" dirty="0"/>
              <a:t> 50% customers churn, </a:t>
            </a:r>
            <a:r>
              <a:rPr lang="en-US" sz="1100" dirty="0" err="1"/>
              <a:t>melalui</a:t>
            </a:r>
            <a:r>
              <a:rPr lang="en-US" sz="1100" dirty="0"/>
              <a:t> promo </a:t>
            </a:r>
            <a:r>
              <a:rPr lang="en-US" sz="1100" dirty="0" err="1"/>
              <a:t>khusus</a:t>
            </a:r>
            <a:r>
              <a:rPr lang="en-US" sz="1100" dirty="0"/>
              <a:t>, </a:t>
            </a:r>
            <a:r>
              <a:rPr lang="en-US" sz="1100" dirty="0" err="1"/>
              <a:t>penawaran</a:t>
            </a:r>
            <a:r>
              <a:rPr lang="en-US" sz="1100" dirty="0"/>
              <a:t> personal, </a:t>
            </a:r>
            <a:r>
              <a:rPr lang="en-US" sz="1100" dirty="0" err="1"/>
              <a:t>atau</a:t>
            </a:r>
            <a:r>
              <a:rPr lang="en-US" sz="1100" dirty="0"/>
              <a:t> </a:t>
            </a:r>
            <a:r>
              <a:rPr lang="en-US" sz="1100" dirty="0" err="1"/>
              <a:t>peluncuran</a:t>
            </a:r>
            <a:r>
              <a:rPr lang="en-US" sz="1100" dirty="0"/>
              <a:t> promo </a:t>
            </a:r>
            <a:r>
              <a:rPr lang="en-US" sz="1100" dirty="0" err="1"/>
              <a:t>serta</a:t>
            </a:r>
            <a:r>
              <a:rPr lang="en-US" sz="1100" dirty="0"/>
              <a:t> </a:t>
            </a:r>
            <a:r>
              <a:rPr lang="en-US" sz="1100" dirty="0" err="1"/>
              <a:t>keuntungan</a:t>
            </a:r>
            <a:r>
              <a:rPr lang="en-US" sz="1100" dirty="0"/>
              <a:t> </a:t>
            </a:r>
            <a:r>
              <a:rPr lang="en-US" sz="1100" dirty="0" err="1"/>
              <a:t>bagi</a:t>
            </a:r>
            <a:r>
              <a:rPr lang="en-US" sz="1100" dirty="0"/>
              <a:t> customer </a:t>
            </a:r>
            <a:r>
              <a:rPr lang="en-US" sz="1100" dirty="0" err="1"/>
              <a:t>yg</a:t>
            </a:r>
            <a:r>
              <a:rPr lang="en-US" sz="1100" dirty="0"/>
              <a:t> </a:t>
            </a:r>
            <a:r>
              <a:rPr lang="en-US" sz="1100" dirty="0" err="1"/>
              <a:t>terindikasi</a:t>
            </a:r>
            <a:r>
              <a:rPr lang="en-US" sz="1100" dirty="0"/>
              <a:t> churn.</a:t>
            </a:r>
          </a:p>
          <a:p>
            <a:pPr algn="just">
              <a:lnSpc>
                <a:spcPct val="150000"/>
              </a:lnSpc>
            </a:pPr>
            <a:endParaRPr lang="en-US" sz="1100" b="0" i="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9E499-B984-4585-A764-8F71A3C3D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160" y="945067"/>
            <a:ext cx="4080087" cy="325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25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43048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2876400" y="2543040"/>
            <a:ext cx="6038640" cy="15622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Uber ride operation pada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tahun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2024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menunjukkan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kinerja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yang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kuat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dalam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hal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jenis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kendaraan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dan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segmentasi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pelanggan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. Tingkat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keberhasilan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bervariasi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tergantung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pada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jenis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kendaraan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namun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tetap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konsisten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dalam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hal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kualitas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.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Retensi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pelanggan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dan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tingkat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pergantian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pelanggan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menjadi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tantangan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menyoroti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kebutuhan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akan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strategi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retensi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yang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ditargetkan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dan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keterlibatan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pelanggan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premium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untuk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memaksimalkan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pertumbuhan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pendapatan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Work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28600" y="1769040"/>
            <a:ext cx="5343120" cy="201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u="none" strike="noStrike" dirty="0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THANK YOU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1335</Words>
  <Application>Microsoft Office PowerPoint</Application>
  <PresentationFormat>On-screen Show (16:9)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Hubot Sans Medium</vt:lpstr>
      <vt:lpstr>OpenSymbol</vt:lpstr>
      <vt:lpstr>Symbol</vt:lpstr>
      <vt:lpstr>Wingdings</vt:lpstr>
      <vt:lpstr>Work Sans</vt:lpstr>
      <vt:lpstr>Minimal Gradient Pitch Deck by Slidesgo</vt:lpstr>
      <vt:lpstr>Slidesgo Final Pages</vt:lpstr>
      <vt:lpstr>Uber Analytics Overview</vt:lpstr>
      <vt:lpstr>Introduction</vt:lpstr>
      <vt:lpstr>PowerPoint Presentation</vt:lpstr>
      <vt:lpstr>Performance KPIs Analysis</vt:lpstr>
      <vt:lpstr>Total Revenue and Ride Statistics</vt:lpstr>
      <vt:lpstr>Ride Cancellation Patterns</vt:lpstr>
      <vt:lpstr>Vehicle Performance</vt:lpstr>
      <vt:lpstr>Customer Segmentation and Retention</vt:lpstr>
      <vt:lpstr>Customer Ratings Distribution</vt:lpstr>
      <vt:lpstr>Driver Ratings Distribution</vt:lpstr>
      <vt:lpstr>Customer Value Segments</vt:lpstr>
      <vt:lpstr>Cohort  Analysis</vt:lpstr>
      <vt:lpstr>Customer Retention analysis for 2024 cohort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Analytics Overview</dc:title>
  <cp:lastModifiedBy>Faraj Hafidh</cp:lastModifiedBy>
  <cp:revision>9</cp:revision>
  <dcterms:modified xsi:type="dcterms:W3CDTF">2025-09-13T01:53:26Z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2025-09-13T00:27:12Z</dcterms:created>
  <dc:creator>Unknown Creator</dc:creator>
  <dc:description/>
  <dc:language>en-US</dc:language>
  <cp:lastModifiedBy>Unknown Creator</cp:lastModifiedBy>
  <dcterms:modified xsi:type="dcterms:W3CDTF">2025-09-13T00:27:12Z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